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4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99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169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Begrüßung. Story-Hook: 850 Mitarbeitende, das Wissen steht in Dokumenten — aber niemand findet es. WICHTIG: jetzt die Setup-Zelle von NB 01 starten lassen, damit die Modell-Downloads während des Theorieteils laufen.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Struktur in drei Teilen. Teil 1 legt die Grundlagen, damit alle dem Hands-on folgen können. Betonen: Mitmach-Format, kostenlos, Teamarbeit.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sechs Lernziele decken sich mit VL 3. Kurz durchgehen — das ist der Kompass für die nächsten zwei Stunden.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Übergang in den Grundlagenteil. Ziel: Alle im Raum haben dasselbe mentale Modell, bevor es ans Selbstbauen geht.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Drei Wurzeln des Wissensproblems (VL 3). Kernbotschaft: RAG behebt ein WISSENS-Problem, kein Verhaltensproblem — die Abgrenzung zu Fine-Tuning kommt in Teil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emotionale Anker. Am Ende (NB 03) bauen wir denselben Fehlertyp nach: eine treue Antwort aus einer falschen Quelle.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Zwei Phasen sauber trennen. Offline berechnen wir einmal alle Vektoren (Bi-Encoder!), online läuft nur Suche + Generierung. Der Merksatz unten trägt den gesamten Rest des Workshops.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Fundament für alles Weitere. Analogie: Bedeutung wird zu Koordinaten im Raum. Kosinus = Winkel, nicht Länge. Die 0,92 ist das SBERT-Beispiel aus VL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SBERT (Reimers &amp; Gurevych 2019), siamesische Architektur. Kernpunkt: getrennt encodieren = vorberechenbar. Das ist der Gegensatz zum Cross-Encoder in Teil 2, der beides gemeinsam liest.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Grund, warum man keine Excel-Tabelle nimmt. Brute-Force O(n) vs. HNSW O(log n). Für unsere 36 Chunks reicht numpy — aber ab Millionen Chunks braucht man genau 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Marktüberblick aus VL 3. Wichtig für die Q&amp;A: Warum numpy statt pgvector? Weil die Konzepte identisch sind und 36 Chunks keinen ANN-Index brauchen. pgvector wäre der Produktionsschritt.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Drei Strategien aus VL 3. Unser NB nutzt bewusst Absatz-Chunking (simpel, nachvollziehbar). Diskussionsanker: Was wäre bei 50-seitigen Verträgen anders? → Hierarchical.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Drei Bausteine in fester Reihenfolge. Der DSGVO-Punkt ist ein starkes Praxis-Argument für RAG gegenüber Fine-Tuning. Überleitung: So weit die Theorie — jetzt bauen wir die naive Variante.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Bewusst simpel. Für viele Fragen funktioniert das erstaunlich gut — wichtig, damit der Kontrast später wirkt. Generierung deterministisch (Satz-Extraktion), damit kostenlos &amp; reproduzierbar.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Mismatch ist der Fachbegriff (VL 3). Beide Fälle probieren die Teilnehmenden in NB 01 selbst. Auf Score-Nähe der Top-3 hinweisen.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Übergang in den Mitmach-Teil (NB 01). Bearbeitungszeit ansagen, dann Lösung live tippen. Floorwalker aktiv.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 des Workshops. Hier lösen wir die Probleme aus Teil 1 und lernen zu messen, ob es wirklich besser wird.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Duell im Notebook zeigt beide Asymmetrien live. Überleitung zum Fusionsproblem — löst RRF (nächste Folien).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Nicht die Formel auswendig — die Intuition zählt: häufig im Dok (TF), selten im Korpus (IDF), längenkorrigiert. Das erklärt, warum BM25 und Dense sich so gut ergänzen.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Brücke zu VL 3 explizit — dasselbe Zahlenbeispiel. Intuition: was in BEIDEN Listen oben steht, gewinnt. k=60 dämpft die Dominanz der Spitzenränge.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Übergang NB 02. Das Duell zeigt die Asymmetrie, RRF vereint beides. Bearbeitungszeit ~8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Gegensatz zum Bi-Encoder von Folie 9: hier lesen Frage und Dokument GEMEINSAM. Deshalb präzise, aber teuer. Führt zum zweistufigen Muster.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Recall/Precision-Gedanke greift der Evaluation vor. Zahlen (Top-50/Top-5) sind illustrativ; im NB nutzen wir Top-8/Top-3 für Tempo.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Übergang NB 03. Erst Übung 3, dann kommt der Höhepunkt (die Falle) im Plenum, danach Übung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HERZSTÜCK. Antwort laut vorlesen, Kunstpause, dann Quelle zeigen. 3 Min Team-Diskussion 'Warum?' BEVOR die Auflösung. Merksatz: Alle drei Stufen taten exakt, wofür sie gebaut sind.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Pointe ist Data Governance, nicht der Code. Alternativen zum harten Filter: Aktualität als Score-Boost, Zeitbezug aus der Frage erkennen, oder dem LLM beide Fassungen mit Datum geben.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WICHTIG: echte Zahlen aus benchmark_ergebnis.png hier einsetzen. Auf Frage 13 zeigen: 'Hybrid + Rerank' scheitert an der Falle, erst 'Advanced' löst sie.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konzeptionelle Anker hinter dem zweistufigen Muster UND den Metriken. Recall = nichts verpassen, Precision = kein Ballast. Beide Stufen adressieren je eine Seite.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Vier Metriken, zwei Achsen: Retrieval (Recall/Precision) und Generierung (Faithfulness/Answer Relevancy). Unsere zwei decken die Retrieval-Seite kostenlos 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Direkt aus VL 3. Diese Tabelle ist Gold für die Q&amp;A. Und: unsere Falle zeigt eine Lücke, die KEINE dieser Metriken allein fängt — Frage 13 hätte perfekte Retrieval-Scores gehabt.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NB 04 ist eine Demo (keine Übung). P2 führt sie am Beamer. ~1 Min Rechenzeit. Danach die echten Zahlen auf Folie 27 zeigen.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Ausblick, der den Workshop einordnet und die volle Breite von VL 3 abdeckt. Zeigt, dass ihr das große Bild versteht.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Kernunterscheidung aus VL 3. Orthogonale Dimensionen. Beispiel für Kombination: juristischer Assistent — Fine-Tuning für Stil, RAG für aktuelle Urteile.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LoRA (Hu 2021), QLoRA (Dettmers 2023). Nicht die Mathematik, die Idee: nur ein kleiner Teil wird trainiert. QLoRA hat Fine-Tuning demokratisiert. Embedding-Fine-Tuning als Extra-Tipp.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Brückenschlag zu Agents. Statisches RAG = ein Schuss. Komplexe Aufgaben brauchen einen mehrschrittigen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ReAct-Loop mit dem Siemens/ABB-Beispiel erklärbar. Agentic RAG = Stand der Technik. Risiken sind das Gegenstück zu unserer Reflexion. Frameworks: LangGraph, LlamaIndex, AutoGen, CrewAI, MCP.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drei Kick-off-Leitfragen zusammenführen. Provokant die Hebel-Frage stellen und die Q&amp;A eröffnen. Air Canada als Anker zurückholen.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 wiederholen, dann offene Q&amp;A. Vorbereitete Antworten im Moderationsleitfaden (warum kein echtes LLM, warum k=60, warum numpy statt pgvector, hätte ein besseres Modell die Falle verhindert).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2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5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51.png"/><Relationship Id="rId4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7955280" y="-1463040"/>
            <a:ext cx="5943600" cy="3108960"/>
          </a:xfrm>
          <a:prstGeom prst="roundRect">
            <a:avLst>
              <a:gd name="adj" fmla="val 11765"/>
            </a:avLst>
          </a:prstGeom>
          <a:solidFill>
            <a:srgbClr val="1C7293">
              <a:alpha val="42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 rot="1500000">
            <a:off x="8778240" y="-1097280"/>
            <a:ext cx="5943600" cy="2011680"/>
          </a:xfrm>
          <a:prstGeom prst="roundRect">
            <a:avLst>
              <a:gd name="adj" fmla="val 18182"/>
            </a:avLst>
          </a:prstGeom>
          <a:solidFill>
            <a:srgbClr val="2EC4B6">
              <a:alpha val="36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SÄULE 2  LLMs, RAG &amp; AGENTS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6459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Advanced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naive Retrieval-Pipelines </a:t>
            </a:r>
            <a:r>
              <a:rPr lang="en-US" sz="1800" dirty="0" err="1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scheitern</a:t>
            </a:r>
            <a:r>
              <a:rPr lang="en-US" sz="180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wie Hybrid Search, Reranking und Evaluation sie retten.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31596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4458614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4343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NordLicht Logistik GmbH internes Wissen für Kundenservice &amp; Personal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22960" y="5577840"/>
            <a:ext cx="10515600" cy="0"/>
          </a:xfrm>
          <a:prstGeom prst="line">
            <a:avLst/>
          </a:prstGeom>
          <a:noFill/>
          <a:ln w="12700">
            <a:solidFill>
              <a:srgbClr val="35507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822960" y="5715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Jannik Braunshausen · Theodor Höfer · Darnell Himmighöfer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72400" y="5715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WDSKI23A · DHBW Mannheim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FAHRPLAN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euch heute erwartet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73152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914400" y="18745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" y="20528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801368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Teil 1 · RAG-Grundlagen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28800" y="2203704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Embeddings, Vektor-DBs, Chunking, der Prompt und warum naives RAG scheitert.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971800"/>
            <a:ext cx="73152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914400" y="3246120"/>
            <a:ext cx="685800" cy="68580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" y="34244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172968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Teil 2 · Advanced RAG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828800" y="3575304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Search, RRF, Reranking, die Metadaten-Falle und Evaluation.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343400"/>
            <a:ext cx="73152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1"/>
          <p:cNvSpPr/>
          <p:nvPr/>
        </p:nvSpPr>
        <p:spPr>
          <a:xfrm>
            <a:off x="914400" y="46177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708" y="479602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544568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Teil 3 · Über RAG hinaus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828800" y="4946904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vs. RAG, LoRA/QLoRA und ein Ausblick auf Agents.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183880" y="1600200"/>
            <a:ext cx="3337560" cy="3977640"/>
          </a:xfrm>
          <a:prstGeom prst="roundRect">
            <a:avLst>
              <a:gd name="adj" fmla="val 2466"/>
            </a:avLst>
          </a:prstGeom>
          <a:solidFill>
            <a:srgbClr val="0B2545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Text 15"/>
          <p:cNvSpPr/>
          <p:nvPr/>
        </p:nvSpPr>
        <p:spPr>
          <a:xfrm>
            <a:off x="850392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</a:t>
            </a:r>
            <a:endParaRPr lang="en-US" sz="1700" dirty="0"/>
          </a:p>
        </p:txBody>
      </p:sp>
      <p:sp>
        <p:nvSpPr>
          <p:cNvPr id="21" name="Shape 16"/>
          <p:cNvSpPr/>
          <p:nvPr/>
        </p:nvSpPr>
        <p:spPr>
          <a:xfrm>
            <a:off x="8503920" y="2331720"/>
            <a:ext cx="502920" cy="502920"/>
          </a:xfrm>
          <a:prstGeom prst="ellipse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4679" y="2462479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98280" y="229514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Mitmach-Workshop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098280" y="2606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7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Notebooks in </a:t>
            </a:r>
            <a:r>
              <a:rPr lang="en-US" sz="1050" dirty="0" err="1">
                <a:solidFill>
                  <a:srgbClr val="B7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</a:t>
            </a:r>
            <a:r>
              <a:rPr lang="en-US" sz="1050" dirty="0">
                <a:solidFill>
                  <a:srgbClr val="B7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kein Frontalvortrag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8503920" y="3136392"/>
            <a:ext cx="502920" cy="502920"/>
          </a:xfrm>
          <a:prstGeom prst="ellipse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4679" y="3267151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098280" y="30998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2 Stunden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098280" y="34107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7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Konzept · Hands-on · Reflexion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503920" y="3941064"/>
            <a:ext cx="502920" cy="502920"/>
          </a:xfrm>
          <a:prstGeom prst="ellipse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4679" y="4071823"/>
            <a:ext cx="241402" cy="24140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098280" y="39044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2er-Teams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9098280" y="421538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7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eigenen Rechner, mit Betreuung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8503920" y="4745736"/>
            <a:ext cx="502920" cy="502920"/>
          </a:xfrm>
          <a:prstGeom prst="ellipse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4679" y="4876495"/>
            <a:ext cx="241402" cy="24140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098280" y="4709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Komplett kostenlos</a:t>
            </a:r>
            <a:endParaRPr lang="en-US" sz="1350" dirty="0"/>
          </a:p>
        </p:txBody>
      </p:sp>
      <p:sp>
        <p:nvSpPr>
          <p:cNvPr id="36" name="Text 27"/>
          <p:cNvSpPr/>
          <p:nvPr/>
        </p:nvSpPr>
        <p:spPr>
          <a:xfrm>
            <a:off x="9098280" y="50200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7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Open-Source-Modelle, keine API-Keys</a:t>
            </a:r>
            <a:endParaRPr lang="en-US" sz="1050" dirty="0"/>
          </a:p>
        </p:txBody>
      </p:sp>
      <p:sp>
        <p:nvSpPr>
          <p:cNvPr id="37" name="Text 2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 DES WORKSHOPS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ihr danach könnt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4F8FB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934" y="21204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476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 RAG-Pipeline erklären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262432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Chunking über Embeddings und Vektorsuche bis zur Antwortgenerierung.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16916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4F8FB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4754880" y="1965960"/>
            <a:ext cx="594360" cy="59436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9414" y="21204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9476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Verstehen, warum naives RAG scheitert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754880" y="262432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Mismatch, fehlende exakte Begriffe, veraltete Quellen.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321040" y="16916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4F8FB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1"/>
          <p:cNvSpPr/>
          <p:nvPr/>
        </p:nvSpPr>
        <p:spPr>
          <a:xfrm>
            <a:off x="8595360" y="19659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9894" y="21204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81160" y="19476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Advanced-RAG einordnen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595360" y="262432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Search, Reciprocal Rank Fusion und Cross-Encoder-Reranking gezielt einsetzen.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37490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4F8FB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5"/>
          <p:cNvSpPr/>
          <p:nvPr/>
        </p:nvSpPr>
        <p:spPr>
          <a:xfrm>
            <a:off x="914400" y="4023360"/>
            <a:ext cx="594360" cy="59436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934" y="417789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0050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Retrieval-Qualität messen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14400" y="468172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Hit@3, MRR und der RAGAS-Logik eine Pipeline objektiv bewerten.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480560" y="37490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4F8FB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19"/>
          <p:cNvSpPr/>
          <p:nvPr/>
        </p:nvSpPr>
        <p:spPr>
          <a:xfrm>
            <a:off x="4754880" y="40233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9414" y="417789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40680" y="40050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von Fine-Tuning abgrenzen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754880" y="468172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Wissensproblem vs. </a:t>
            </a:r>
            <a:r>
              <a:rPr lang="en-US" sz="1200" dirty="0" err="1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Verhaltensproblem</a:t>
            </a: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wann welcher Hebel greift.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321040" y="37490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4F8FB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" name="Shape 23"/>
          <p:cNvSpPr/>
          <p:nvPr/>
        </p:nvSpPr>
        <p:spPr>
          <a:xfrm>
            <a:off x="8595360" y="4023360"/>
            <a:ext cx="594360" cy="59436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49894" y="417789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81160" y="40050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einordnen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595360" y="468172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 ein einzelner Retrieval-Schritt nicht reicht und ReAct ins Spiel kommt.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8138160" y="4297680"/>
            <a:ext cx="5943600" cy="3108960"/>
          </a:xfrm>
          <a:prstGeom prst="roundRect">
            <a:avLst>
              <a:gd name="adj" fmla="val 11765"/>
            </a:avLst>
          </a:prstGeom>
          <a:solidFill>
            <a:srgbClr val="1C7293">
              <a:alpha val="42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 rot="1200000">
            <a:off x="8961120" y="4663440"/>
            <a:ext cx="5943600" cy="2011680"/>
          </a:xfrm>
          <a:prstGeom prst="roundRect">
            <a:avLst>
              <a:gd name="adj" fmla="val 18182"/>
            </a:avLst>
          </a:prstGeom>
          <a:solidFill>
            <a:srgbClr val="2EC4B6">
              <a:alpha val="36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51460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RAG-Grundlagen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4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eine Retrieval-Pipeline von Grund auf funktioniert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4370832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234440" y="427024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Wissensproblem der LLMs und die Idee von RAG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68680" y="4791456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1234440" y="4690872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Embeddings, Bi-Encoder und Vektordatenbanken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68680" y="5212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1234440" y="5111496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Chunking-Strategien und der erweiterte Prompt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5632704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1234440" y="55321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die naive Pipeline an ihre Grenzen stößt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0195560" y="2194560"/>
            <a:ext cx="1371600" cy="1371600"/>
          </a:xfrm>
          <a:prstGeom prst="ellipse">
            <a:avLst/>
          </a:prstGeom>
          <a:solidFill>
            <a:srgbClr val="16305A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2176" y="2551176"/>
            <a:ext cx="658368" cy="65836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ÜBERHAUPT RAG?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LLMs haben ein Wissensproblem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66160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960120" y="21945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" y="23728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2402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Statisches Wissen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063240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Modell kennt nur seinen Trainingsstand. Interne Dokumente und aktuelle Fakten fehlen.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98848" y="1874520"/>
            <a:ext cx="3566160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4818888" y="21945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196" y="23728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41848" y="22402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Keine Quellen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818888" y="3063240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Antworten sind plausibel formuliert, aber nicht </a:t>
            </a:r>
            <a:r>
              <a:rPr lang="en-US" sz="1300" dirty="0" err="1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belegt</a:t>
            </a: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Halluzinationen sind strukturell angelegt.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357616" y="1874520"/>
            <a:ext cx="3566160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1"/>
          <p:cNvSpPr/>
          <p:nvPr/>
        </p:nvSpPr>
        <p:spPr>
          <a:xfrm>
            <a:off x="8677656" y="21945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5964" y="23728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500616" y="22402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Kein Zugriff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677656" y="3063240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Firmenwissen liegt in Systemen, auf die das LLM von sich aus keinen Zugriff hat.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461772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5"/>
          <p:cNvSpPr/>
          <p:nvPr/>
        </p:nvSpPr>
        <p:spPr>
          <a:xfrm>
            <a:off x="1005840" y="4892040"/>
            <a:ext cx="685800" cy="68580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4148" y="507034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74520" y="4892040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Lösung zur Laufzeit:  </a:t>
            </a:r>
            <a:r>
              <a:rPr lang="en-US" sz="15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relevante Dokumente suchen und dem LLM als Kontext mitgeben. Es antwortet aus dem, was es </a:t>
            </a:r>
            <a:r>
              <a:rPr lang="en-US" sz="1500" dirty="0" err="1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gerade</a:t>
            </a:r>
            <a:r>
              <a:rPr lang="en-US" sz="15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liest</a:t>
            </a:r>
            <a:r>
              <a:rPr lang="en-US" sz="15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statt aus dem Gedächtnis. Das ist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Generation.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WARNGESCHICHTE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Wenn der Bot Unsinn erzählt, haftet das Unternehmen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2331720"/>
            <a:ext cx="914400" cy="914400"/>
          </a:xfrm>
          <a:prstGeom prst="ellipse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569464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194560" y="2286000"/>
            <a:ext cx="5577840" cy="3200400"/>
          </a:xfrm>
          <a:prstGeom prst="roundRect">
            <a:avLst>
              <a:gd name="adj" fmla="val 2571"/>
            </a:avLst>
          </a:prstGeom>
          <a:solidFill>
            <a:srgbClr val="13315C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2560320" y="2560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Fall Air Canada (2024)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560320" y="310896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Support-Chatbot erfindet eine Rückerstattungs-Regel, die es nie gab.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Kunde verlässt sich darauf und klagt.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Gericht entscheidet: Die Airline haftet für die Aussage ihres Bots.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046720" y="2286000"/>
            <a:ext cx="3474720" cy="3200400"/>
          </a:xfrm>
          <a:prstGeom prst="roundRect">
            <a:avLst>
              <a:gd name="adj" fmla="val 2571"/>
            </a:avLst>
          </a:prstGeom>
          <a:solidFill>
            <a:srgbClr val="3A1F14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8366760" y="25603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Lektion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366760" y="3063240"/>
            <a:ext cx="2880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0D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flüssige, falsche Antwort ist teurer als gar keine.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0D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Vertrauen, Recht und Reputation hängen an der Faktentreue.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ARCHITEKTUR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in zwei Phasen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3931920"/>
          </a:xfrm>
          <a:prstGeom prst="roundRect">
            <a:avLst>
              <a:gd name="adj" fmla="val 2093"/>
            </a:avLst>
          </a:prstGeom>
          <a:solidFill>
            <a:srgbClr val="F4F8FB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960120" y="214884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3EEF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960120" y="21488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OFFLINE (einmalig)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60120" y="26974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66" y="2840126"/>
            <a:ext cx="263347" cy="26334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60120" y="2697480"/>
            <a:ext cx="548640" cy="548640"/>
          </a:xfrm>
          <a:prstGeom prst="ellipse">
            <a:avLst/>
          </a:prstGeom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1691640" y="267919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691640" y="299008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Dokumente in Häppchen teilen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60120" y="36576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766" y="3800246"/>
            <a:ext cx="263347" cy="26334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960120" y="3657600"/>
            <a:ext cx="548640" cy="548640"/>
          </a:xfrm>
          <a:prstGeom prst="ellipse">
            <a:avLst/>
          </a:prstGeom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1"/>
          <p:cNvSpPr/>
          <p:nvPr/>
        </p:nvSpPr>
        <p:spPr>
          <a:xfrm>
            <a:off x="1691640" y="36393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1691640" y="39502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Chunk wird zum Vektor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960120" y="4617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766" y="4760366"/>
            <a:ext cx="263347" cy="263347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60120" y="4617720"/>
            <a:ext cx="548640" cy="548640"/>
          </a:xfrm>
          <a:prstGeom prst="ellipse">
            <a:avLst/>
          </a:prstGeom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5"/>
          <p:cNvSpPr/>
          <p:nvPr/>
        </p:nvSpPr>
        <p:spPr>
          <a:xfrm>
            <a:off x="1691640" y="459943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Indexieren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1691640" y="49103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Vektoren in die Vektor-Datenbank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263640" y="1874520"/>
            <a:ext cx="5257800" cy="3931920"/>
          </a:xfrm>
          <a:prstGeom prst="roundRect">
            <a:avLst>
              <a:gd name="adj" fmla="val 2093"/>
            </a:avLst>
          </a:prstGeom>
          <a:solidFill>
            <a:srgbClr val="0B2545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18"/>
          <p:cNvSpPr/>
          <p:nvPr/>
        </p:nvSpPr>
        <p:spPr>
          <a:xfrm>
            <a:off x="6583680" y="214884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1B3A6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19"/>
          <p:cNvSpPr/>
          <p:nvPr/>
        </p:nvSpPr>
        <p:spPr>
          <a:xfrm>
            <a:off x="6583680" y="21488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ZUR LAUFZEIT (pro Frage)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583680" y="269748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6326" y="2840126"/>
            <a:ext cx="263347" cy="26334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15200" y="267919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7315200" y="299008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4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Passende Chunks zur Frage suchen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583680" y="365760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6326" y="3800246"/>
            <a:ext cx="263347" cy="263347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315200" y="36393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Augmentierung</a:t>
            </a:r>
            <a:endParaRPr lang="en-US" sz="1450" dirty="0"/>
          </a:p>
        </p:txBody>
      </p:sp>
      <p:sp>
        <p:nvSpPr>
          <p:cNvPr id="32" name="Text 25"/>
          <p:cNvSpPr/>
          <p:nvPr/>
        </p:nvSpPr>
        <p:spPr>
          <a:xfrm>
            <a:off x="7315200" y="39502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4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in den Prompt einbetten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6583680" y="461772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6326" y="4760366"/>
            <a:ext cx="263347" cy="263347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315200" y="459943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Generierung</a:t>
            </a:r>
            <a:endParaRPr lang="en-US" sz="1450" dirty="0"/>
          </a:p>
        </p:txBody>
      </p:sp>
      <p:sp>
        <p:nvSpPr>
          <p:cNvPr id="36" name="Text 28"/>
          <p:cNvSpPr/>
          <p:nvPr/>
        </p:nvSpPr>
        <p:spPr>
          <a:xfrm>
            <a:off x="7315200" y="49103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4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antwortet aus dem Kontext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Schlüsselsatz für heute: Die Generierung kann nur so gut sein wie das Retrieval.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GRUNDBAUSTEIN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ist ein Embedding?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96012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Vom Wort zur Zahl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46888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neuronales Netz rechnet </a:t>
            </a:r>
            <a:r>
              <a:rPr lang="en-US" sz="1350" dirty="0" err="1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r>
              <a:rPr lang="en-US" sz="13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Vektoren</a:t>
            </a:r>
            <a:r>
              <a:rPr lang="en-US" sz="13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ein Wort wie „Hamburg" ist keine Zahl. Ein Embedding bildet Text auf einen dichten Vektor ab (typisch 128–4096 Dimensionen).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96012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zentrale Eigenschaft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457200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Ähnliche Bedeutung → ähnliche Vektoren. „Paket" und „Sendung" landen nah beieinander, „Paket" und „Urlaub" weit auseinander. Das macht Bedeutung rechenbar.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257800" cy="4023360"/>
          </a:xfrm>
          <a:prstGeom prst="roundRect">
            <a:avLst>
              <a:gd name="adj" fmla="val 2045"/>
            </a:avLst>
          </a:prstGeom>
          <a:solidFill>
            <a:srgbClr val="0B2545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583680" y="2103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Nähe messen: Kosinus-Ähnlichkeit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583680" y="25146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4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Winkel zwischen </a:t>
            </a:r>
            <a:r>
              <a:rPr lang="en-US" sz="1300" dirty="0" err="1">
                <a:solidFill>
                  <a:srgbClr val="C4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</a:t>
            </a:r>
            <a:r>
              <a:rPr lang="en-US" sz="1300" dirty="0">
                <a:solidFill>
                  <a:srgbClr val="C4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C4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Vektoren</a:t>
            </a:r>
            <a:r>
              <a:rPr lang="en-US" sz="1300" dirty="0">
                <a:solidFill>
                  <a:srgbClr val="C4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nicht </a:t>
            </a:r>
            <a:r>
              <a:rPr lang="en-US" sz="1300" dirty="0" err="1">
                <a:solidFill>
                  <a:srgbClr val="C4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ihre</a:t>
            </a:r>
            <a:r>
              <a:rPr lang="en-US" sz="1300" dirty="0">
                <a:solidFill>
                  <a:srgbClr val="C4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C4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Länge</a:t>
            </a:r>
            <a:r>
              <a:rPr lang="en-US" sz="1300" dirty="0">
                <a:solidFill>
                  <a:srgbClr val="C4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misst, wie ähnlich zwei Texte sind: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31546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cos(v</a:t>
            </a:r>
            <a:r>
              <a:rPr lang="en-US" sz="1300" i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v</a:t>
            </a:r>
            <a:r>
              <a:rPr lang="en-US" sz="1300" i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∈ [−1, 1]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766560" y="3977640"/>
            <a:ext cx="4297680" cy="0"/>
          </a:xfrm>
          <a:prstGeom prst="line">
            <a:avLst/>
          </a:prstGeom>
          <a:noFill/>
          <a:ln w="25400">
            <a:solidFill>
              <a:srgbClr val="35507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6711696" y="3922776"/>
            <a:ext cx="109728" cy="1097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6400800" y="3520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40873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identisch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74736" y="3922776"/>
            <a:ext cx="109728" cy="109728"/>
          </a:xfrm>
          <a:prstGeom prst="ellipse">
            <a:avLst/>
          </a:prstGeom>
          <a:solidFill>
            <a:srgbClr val="9FB2C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7863840" y="3520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89520" y="40873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verwandt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637776" y="3922776"/>
            <a:ext cx="109728" cy="109728"/>
          </a:xfrm>
          <a:prstGeom prst="ellipse">
            <a:avLst/>
          </a:prstGeom>
          <a:solidFill>
            <a:srgbClr val="9FB2C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9326880" y="3520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52560" y="40873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unabhängig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583680" y="4892040"/>
            <a:ext cx="4617720" cy="777240"/>
          </a:xfrm>
          <a:prstGeom prst="roundRect">
            <a:avLst>
              <a:gd name="adj" fmla="val 10588"/>
            </a:avLst>
          </a:prstGeom>
          <a:solidFill>
            <a:srgbClr val="1B3A66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6766560" y="489204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„Passwort zurücksetzen?" ↔ „Passwort vergessen?"  →  cos ≈ 0,92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RETRIEVAL-WERKZEUG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Bi-Encoder (SBERT)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Encoder teilen sich die Gewichte und verarbeiten Frage und Dokument </a:t>
            </a:r>
            <a:r>
              <a:rPr lang="en-US" sz="1450" dirty="0" err="1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unabhängig</a:t>
            </a:r>
            <a:r>
              <a:rPr lang="en-US" sz="14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voneinander</a:t>
            </a:r>
            <a:r>
              <a:rPr lang="en-US" sz="14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dadurch lassen sich alle Dokument-Vektoren einmal vorberechnen.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88720" y="2514600"/>
            <a:ext cx="3108960" cy="2377440"/>
          </a:xfrm>
          <a:prstGeom prst="roundRect">
            <a:avLst>
              <a:gd name="adj" fmla="val 3462"/>
            </a:avLst>
          </a:prstGeom>
          <a:solidFill>
            <a:srgbClr val="F4F8FB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188720" y="2697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30175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„Passwort zurücksetzen?"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691640" y="34747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E3EEF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1691640" y="3474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Embedding-Modell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48840" y="40690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486" y="4211726"/>
            <a:ext cx="263347" cy="26334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697480" y="414223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v_q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863840" y="2514600"/>
            <a:ext cx="3108960" cy="2377440"/>
          </a:xfrm>
          <a:prstGeom prst="roundRect">
            <a:avLst>
              <a:gd name="adj" fmla="val 3462"/>
            </a:avLst>
          </a:prstGeom>
          <a:solidFill>
            <a:srgbClr val="F4F8FB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7863840" y="2697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FAQ-Eintrag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001000" y="30175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„Passwort vergessen?"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366760" y="34747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E4F6F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4"/>
          <p:cNvSpPr/>
          <p:nvPr/>
        </p:nvSpPr>
        <p:spPr>
          <a:xfrm>
            <a:off x="8366760" y="3474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Embedding-Modell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823960" y="406908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606" y="4211726"/>
            <a:ext cx="263347" cy="263347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372600" y="414223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1B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v_d</a:t>
            </a:r>
            <a:endParaRPr lang="en-US" sz="18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4206240"/>
            <a:ext cx="320040" cy="320040"/>
          </a:xfrm>
          <a:prstGeom prst="rect">
            <a:avLst/>
          </a:prstGeom>
        </p:spPr>
      </p:pic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7360920" y="4206240"/>
            <a:ext cx="320040" cy="32004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892040" y="3749040"/>
            <a:ext cx="2423160" cy="123444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Text 18"/>
          <p:cNvSpPr/>
          <p:nvPr/>
        </p:nvSpPr>
        <p:spPr>
          <a:xfrm>
            <a:off x="4892040" y="38862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 ≈ 0,92</a:t>
            </a:r>
            <a:endParaRPr lang="en-US" sz="2200" dirty="0"/>
          </a:p>
        </p:txBody>
      </p:sp>
      <p:sp>
        <p:nvSpPr>
          <p:cNvPr id="25" name="Text 19"/>
          <p:cNvSpPr/>
          <p:nvPr/>
        </p:nvSpPr>
        <p:spPr>
          <a:xfrm>
            <a:off x="4892040" y="43891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4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hohe Ähnlichkeit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40080" y="516636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E7F3EC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7" name="Shape 21"/>
          <p:cNvSpPr/>
          <p:nvPr/>
        </p:nvSpPr>
        <p:spPr>
          <a:xfrm>
            <a:off x="914400" y="5349240"/>
            <a:ext cx="502920" cy="502920"/>
          </a:xfrm>
          <a:prstGeom prst="ellipse">
            <a:avLst/>
          </a:prstGeom>
          <a:solidFill>
            <a:srgbClr val="3AA76D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159" y="5479999"/>
            <a:ext cx="241402" cy="24140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554480" y="53492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AA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das zählt:  </a:t>
            </a:r>
            <a:r>
              <a:rPr lang="en-US" sz="1400" dirty="0">
                <a:solidFill>
                  <a:srgbClr val="2E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Dokument-Vektoren werden einmal offline berechnet. Zur Laufzeit muss nur die Frage encodiert und der Abstand </a:t>
            </a:r>
            <a:r>
              <a:rPr lang="en-US" sz="1400" dirty="0" err="1">
                <a:solidFill>
                  <a:srgbClr val="2E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verglichen</a:t>
            </a:r>
            <a:r>
              <a:rPr lang="en-US" sz="1400" dirty="0">
                <a:solidFill>
                  <a:srgbClr val="2E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E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werden</a:t>
            </a:r>
            <a:r>
              <a:rPr lang="en-US" sz="1400" dirty="0">
                <a:solidFill>
                  <a:srgbClr val="2E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2E4A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</a:t>
            </a:r>
            <a:r>
              <a:rPr lang="en-US" sz="1400" dirty="0" err="1">
                <a:solidFill>
                  <a:srgbClr val="2E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</a:t>
            </a:r>
            <a:r>
              <a:rPr lang="en-US" sz="1400" dirty="0">
                <a:solidFill>
                  <a:srgbClr val="2E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Stunden werden Sekunden.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SKALIERUNG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eine Vektordatenbank?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2514600"/>
          </a:xfrm>
          <a:prstGeom prst="roundRect">
            <a:avLst>
              <a:gd name="adj" fmla="val 3273"/>
            </a:avLst>
          </a:prstGeom>
          <a:solidFill>
            <a:srgbClr val="FBEDE2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960120" y="2148840"/>
            <a:ext cx="640080" cy="640080"/>
          </a:xfrm>
          <a:prstGeom prst="ellipse">
            <a:avLst/>
          </a:prstGeom>
          <a:solidFill>
            <a:srgbClr val="E07A3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1" y="23152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94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Naiv: Brute-Force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92608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A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jeder Frage den Abstand zu allen Vektoren rechnen. Bei 1 Mio. Vektoren × 768 Dim. sind das 750 Mio. </a:t>
            </a:r>
            <a:r>
              <a:rPr lang="en-US" sz="1300" dirty="0" err="1">
                <a:solidFill>
                  <a:srgbClr val="5A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Operationen</a:t>
            </a:r>
            <a:r>
              <a:rPr lang="en-US" sz="1300" dirty="0">
                <a:solidFill>
                  <a:srgbClr val="5A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 Query.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38862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960120" y="38862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Komplexität O(n)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63640" y="1828800"/>
            <a:ext cx="5257800" cy="2514600"/>
          </a:xfrm>
          <a:prstGeom prst="roundRect">
            <a:avLst>
              <a:gd name="adj" fmla="val 3273"/>
            </a:avLst>
          </a:prstGeom>
          <a:solidFill>
            <a:srgbClr val="E7F3EC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9"/>
          <p:cNvSpPr/>
          <p:nvPr/>
        </p:nvSpPr>
        <p:spPr>
          <a:xfrm>
            <a:off x="6583680" y="2148840"/>
            <a:ext cx="640080" cy="640080"/>
          </a:xfrm>
          <a:prstGeom prst="ellipse">
            <a:avLst/>
          </a:prstGeom>
          <a:solidFill>
            <a:srgbClr val="3AA76D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101" y="23152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06640" y="2194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Lösung: ANN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83680" y="292608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E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Nearest Neighbor: nicht exakt den nächsten, sondern schnell einen sehr guten Nachbarn finden. In der Praxis vernachlässigbarer Qualitätsverlust.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583680" y="388620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3"/>
          <p:cNvSpPr/>
          <p:nvPr/>
        </p:nvSpPr>
        <p:spPr>
          <a:xfrm>
            <a:off x="6583680" y="3886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A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Komplexität O(log n)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0080" y="452628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0B2545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Text 15"/>
          <p:cNvSpPr/>
          <p:nvPr/>
        </p:nvSpPr>
        <p:spPr>
          <a:xfrm>
            <a:off x="960120" y="47091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HNSW · Hierarchical Navigable Small World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766560" y="4773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(Malkov &amp; Yashunin, 2018)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960120" y="5102352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mehrschichtiger Graph: Die Suche startet oben mit großen Sprüngen, navigiert zur richtigen Region und findet auf der untersten Ebene das genaue Ergebnis.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8732520" y="5074920"/>
            <a:ext cx="91440" cy="91440"/>
          </a:xfrm>
          <a:prstGeom prst="ellipse">
            <a:avLst/>
          </a:prstGeom>
          <a:solidFill>
            <a:srgbClr val="5A7BA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Shape 19"/>
          <p:cNvSpPr/>
          <p:nvPr/>
        </p:nvSpPr>
        <p:spPr>
          <a:xfrm>
            <a:off x="9189720" y="5074920"/>
            <a:ext cx="91440" cy="91440"/>
          </a:xfrm>
          <a:prstGeom prst="ellipse">
            <a:avLst/>
          </a:prstGeom>
          <a:solidFill>
            <a:srgbClr val="5A7BA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Shape 20"/>
          <p:cNvSpPr/>
          <p:nvPr/>
        </p:nvSpPr>
        <p:spPr>
          <a:xfrm>
            <a:off x="9646920" y="5074920"/>
            <a:ext cx="91440" cy="91440"/>
          </a:xfrm>
          <a:prstGeom prst="ellipse">
            <a:avLst/>
          </a:prstGeom>
          <a:solidFill>
            <a:srgbClr val="5A7BA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Shape 21"/>
          <p:cNvSpPr/>
          <p:nvPr/>
        </p:nvSpPr>
        <p:spPr>
          <a:xfrm>
            <a:off x="10104120" y="5074920"/>
            <a:ext cx="91440" cy="91440"/>
          </a:xfrm>
          <a:prstGeom prst="ellipse">
            <a:avLst/>
          </a:prstGeom>
          <a:solidFill>
            <a:srgbClr val="5A7BA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Shape 22"/>
          <p:cNvSpPr/>
          <p:nvPr/>
        </p:nvSpPr>
        <p:spPr>
          <a:xfrm>
            <a:off x="10561320" y="5074920"/>
            <a:ext cx="91440" cy="91440"/>
          </a:xfrm>
          <a:prstGeom prst="ellipse">
            <a:avLst/>
          </a:prstGeom>
          <a:solidFill>
            <a:srgbClr val="5A7BA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Shape 23"/>
          <p:cNvSpPr/>
          <p:nvPr/>
        </p:nvSpPr>
        <p:spPr>
          <a:xfrm>
            <a:off x="11018520" y="5074920"/>
            <a:ext cx="91440" cy="91440"/>
          </a:xfrm>
          <a:prstGeom prst="ellipse">
            <a:avLst/>
          </a:prstGeom>
          <a:solidFill>
            <a:srgbClr val="5A7BA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Shape 24"/>
          <p:cNvSpPr/>
          <p:nvPr/>
        </p:nvSpPr>
        <p:spPr>
          <a:xfrm>
            <a:off x="8732520" y="5349240"/>
            <a:ext cx="91440" cy="91440"/>
          </a:xfrm>
          <a:prstGeom prst="ellipse">
            <a:avLst/>
          </a:prstGeom>
          <a:solidFill>
            <a:srgbClr val="5A7BA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Shape 25"/>
          <p:cNvSpPr/>
          <p:nvPr/>
        </p:nvSpPr>
        <p:spPr>
          <a:xfrm>
            <a:off x="9494520" y="5349240"/>
            <a:ext cx="91440" cy="91440"/>
          </a:xfrm>
          <a:prstGeom prst="ellipse">
            <a:avLst/>
          </a:prstGeom>
          <a:solidFill>
            <a:srgbClr val="5A7BA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Shape 26"/>
          <p:cNvSpPr/>
          <p:nvPr/>
        </p:nvSpPr>
        <p:spPr>
          <a:xfrm>
            <a:off x="10256520" y="5349240"/>
            <a:ext cx="91440" cy="91440"/>
          </a:xfrm>
          <a:prstGeom prst="ellipse">
            <a:avLst/>
          </a:prstGeom>
          <a:solidFill>
            <a:srgbClr val="5A7BA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1" name="Shape 27"/>
          <p:cNvSpPr/>
          <p:nvPr/>
        </p:nvSpPr>
        <p:spPr>
          <a:xfrm>
            <a:off x="11018520" y="5349240"/>
            <a:ext cx="91440" cy="91440"/>
          </a:xfrm>
          <a:prstGeom prst="ellipse">
            <a:avLst/>
          </a:prstGeom>
          <a:solidFill>
            <a:srgbClr val="5A7BA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Shape 28"/>
          <p:cNvSpPr/>
          <p:nvPr/>
        </p:nvSpPr>
        <p:spPr>
          <a:xfrm>
            <a:off x="8732520" y="5623560"/>
            <a:ext cx="91440" cy="9144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3" name="Shape 29"/>
          <p:cNvSpPr/>
          <p:nvPr/>
        </p:nvSpPr>
        <p:spPr>
          <a:xfrm>
            <a:off x="11018520" y="5623560"/>
            <a:ext cx="91440" cy="9144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4" name="Text 30"/>
          <p:cNvSpPr/>
          <p:nvPr/>
        </p:nvSpPr>
        <p:spPr>
          <a:xfrm>
            <a:off x="8732520" y="591616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Ebene 2 → 0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WERKZEUG-LANDSCHAFT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 Vektordatenbank?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EAF6FA"/>
          </a:solidFill>
          <a:ln w="19050">
            <a:solidFill>
              <a:srgbClr val="1C7293"/>
            </a:solidFill>
            <a:prstDash val="solid"/>
          </a:ln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577340" y="21488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535" y="233903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9718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pgvector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37260" y="3401568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937260" y="34015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PostgreSQL-Extension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384048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Vektorsuche direkt in Postgres, kein neuer Stack. Ideal für kleinere Projekte.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0080" y="470916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unser Stack-Vorbild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502152" y="187452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F4F8FB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0"/>
          <p:cNvSpPr/>
          <p:nvPr/>
        </p:nvSpPr>
        <p:spPr>
          <a:xfrm>
            <a:off x="4439412" y="2148840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607" y="2339035"/>
            <a:ext cx="351130" cy="35113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02152" y="29718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Qdrant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3799332" y="3401568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3"/>
          <p:cNvSpPr/>
          <p:nvPr/>
        </p:nvSpPr>
        <p:spPr>
          <a:xfrm>
            <a:off x="3799332" y="34015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· Rust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730752" y="384048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Sehr schnell, speichereffizient, Hybrid Search nativ. Gut für Production.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364224" y="187452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F4F8FB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6"/>
          <p:cNvSpPr/>
          <p:nvPr/>
        </p:nvSpPr>
        <p:spPr>
          <a:xfrm>
            <a:off x="7301484" y="21488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1679" y="2339035"/>
            <a:ext cx="351130" cy="35113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64224" y="29718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6661404" y="3401568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19"/>
          <p:cNvSpPr/>
          <p:nvPr/>
        </p:nvSpPr>
        <p:spPr>
          <a:xfrm>
            <a:off x="6661404" y="34015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6592824" y="384048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Einfachster Einstieg, In-Process-Python. Für Notebooks und Prototypen.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9226296" y="187452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F4F8FB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7" name="Shape 22"/>
          <p:cNvSpPr/>
          <p:nvPr/>
        </p:nvSpPr>
        <p:spPr>
          <a:xfrm>
            <a:off x="10163556" y="2148840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3751" y="2339035"/>
            <a:ext cx="351130" cy="35113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26296" y="29718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Weaviate</a:t>
            </a:r>
            <a:endParaRPr lang="en-US" sz="1800" dirty="0"/>
          </a:p>
        </p:txBody>
      </p:sp>
      <p:sp>
        <p:nvSpPr>
          <p:cNvPr id="30" name="Shape 24"/>
          <p:cNvSpPr/>
          <p:nvPr/>
        </p:nvSpPr>
        <p:spPr>
          <a:xfrm>
            <a:off x="9523476" y="3401568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1" name="Text 25"/>
          <p:cNvSpPr/>
          <p:nvPr/>
        </p:nvSpPr>
        <p:spPr>
          <a:xfrm>
            <a:off x="9523476" y="34015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9454896" y="384048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&amp; multimodal eingebaut, GraphQL-API für komplexe Schemata.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640080" y="5212080"/>
            <a:ext cx="10881360" cy="640080"/>
          </a:xfrm>
          <a:prstGeom prst="roundRect">
            <a:avLst>
              <a:gd name="adj" fmla="val 12857"/>
            </a:avLst>
          </a:prstGeom>
          <a:solidFill>
            <a:srgbClr val="0B2545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4" name="Text 28"/>
          <p:cNvSpPr/>
          <p:nvPr/>
        </p:nvSpPr>
        <p:spPr>
          <a:xfrm>
            <a:off x="960120" y="52120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Faustregel:  </a:t>
            </a:r>
            <a:r>
              <a:rPr lang="en-US" sz="14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pgvector, wenn es einfach </a:t>
            </a:r>
            <a:r>
              <a:rPr lang="en-US" sz="1400" dirty="0" err="1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bleiben</a:t>
            </a:r>
            <a:r>
              <a:rPr lang="en-US" sz="14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soll</a:t>
            </a:r>
            <a:r>
              <a:rPr lang="en-US" sz="14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Qdrant, wenn Hybrid Search und Performance gefragt sind. Im Workshop nutzen wir bewusst nur numpy: 36 Chunks brauchen keinen Index.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DOKUMENTE AUFBEREITEN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Chunking-Strategien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Embedding-Modelle verarbeiten begrenzte Textlängen, und kleinere Einheiten lassen sich präziser wiederfinden. Wie man teilt, entscheidet über die Retrieval-Qualität.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52044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914400" y="24688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263530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4505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Fixed-Size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45920" y="28163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robuste Default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329184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Feste Tokenzahl je Chunk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gegen Kontextverlust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Spot: 256 - 512 Token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Overlap: 50 - 100 Token (10–20 %)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80560" y="2194560"/>
            <a:ext cx="352044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9"/>
          <p:cNvSpPr/>
          <p:nvPr/>
        </p:nvSpPr>
        <p:spPr>
          <a:xfrm>
            <a:off x="4754880" y="246888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301" y="263530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24505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5486400" y="28163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Thematisch kohärent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754880" y="329184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Kosinus zwischen Nachbarsätzen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Teilen bei Ähnlichkeitsabfall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Kohärente Einheiten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Langsamer, variable Größen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321040" y="2194560"/>
            <a:ext cx="352044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4"/>
          <p:cNvSpPr/>
          <p:nvPr/>
        </p:nvSpPr>
        <p:spPr>
          <a:xfrm>
            <a:off x="8595360" y="2468880"/>
            <a:ext cx="640080" cy="64008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1781" y="2635301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326880" y="24505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9326880" y="28163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Art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595360" y="329184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 Child-Chunks fürs Retrieval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Große Parent-Chunks für den LLM-Kontext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Karteikarte suchen, Kapitel lesen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komplexe Dokumente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40080" y="5257800"/>
            <a:ext cx="10881360" cy="594360"/>
          </a:xfrm>
          <a:prstGeom prst="roundRect">
            <a:avLst>
              <a:gd name="adj" fmla="val 13846"/>
            </a:avLst>
          </a:prstGeom>
          <a:solidFill>
            <a:srgbClr val="0B2545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Text 19"/>
          <p:cNvSpPr/>
          <p:nvPr/>
        </p:nvSpPr>
        <p:spPr>
          <a:xfrm>
            <a:off x="960120" y="525780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der Praxis:  </a:t>
            </a:r>
            <a:r>
              <a:rPr lang="en-US" sz="13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als Baseline. Semantic oder Hierarchical, wenn die RAGAS-Scores niedrig sind. Chunk-Größen immer empirisch </a:t>
            </a:r>
            <a:r>
              <a:rPr lang="en-US" sz="1350" dirty="0" err="1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testen</a:t>
            </a:r>
            <a:r>
              <a:rPr lang="en-US" sz="13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Im Workshop: 1 Absatz = 1 Chunk.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HERZSTÜCK DER GENERIERUNG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erweiterte Prompt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675120" cy="1051560"/>
          </a:xfrm>
          <a:prstGeom prst="roundRect">
            <a:avLst>
              <a:gd name="adj" fmla="val 7826"/>
            </a:avLst>
          </a:prstGeom>
          <a:solidFill>
            <a:srgbClr val="F4F8FB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914400" y="203911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914400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9164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System-Instruktion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91640" y="2331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„Beantworte die Frage ausschließlich anhand des Kontexts. Steht die Antwort nicht drin, sage es ehrlich."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6675120" cy="1051560"/>
          </a:xfrm>
          <a:prstGeom prst="roundRect">
            <a:avLst>
              <a:gd name="adj" fmla="val 7826"/>
            </a:avLst>
          </a:prstGeom>
          <a:solidFill>
            <a:srgbClr val="F4F8FB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914400" y="322783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914400" y="3227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91640" y="3154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Kontext-Chunks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691640" y="3520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 </a:t>
            </a:r>
            <a:r>
              <a:rPr lang="en-US" sz="1250" dirty="0" err="1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ähnlichsten</a:t>
            </a: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Dokumentabschnitte</a:t>
            </a: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nummeriert und mit Quellenangabe.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6675120" cy="1051560"/>
          </a:xfrm>
          <a:prstGeom prst="roundRect">
            <a:avLst>
              <a:gd name="adj" fmla="val 7826"/>
            </a:avLst>
          </a:prstGeom>
          <a:solidFill>
            <a:srgbClr val="F4F8FB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914400" y="441655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914400" y="4416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Nutzeranfrage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91640" y="4709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ursprüngliche Frage, unverändert angehängt.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498080" y="1783080"/>
            <a:ext cx="4023360" cy="1828800"/>
          </a:xfrm>
          <a:prstGeom prst="roundRect">
            <a:avLst>
              <a:gd name="adj" fmla="val 4500"/>
            </a:avLst>
          </a:prstGeom>
          <a:solidFill>
            <a:srgbClr val="0B2545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7818120" y="205740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0766" y="2200046"/>
            <a:ext cx="263347" cy="26334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45820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Effekt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818120" y="269748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LLM wird gezwungen, auf echten Quellen zu basieren. Halluzinationen sind nicht ausgeschlossen, aber die Fehlerquote sinkt erheblich.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498080" y="3749040"/>
            <a:ext cx="4023360" cy="1783080"/>
          </a:xfrm>
          <a:prstGeom prst="roundRect">
            <a:avLst>
              <a:gd name="adj" fmla="val 4615"/>
            </a:avLst>
          </a:prstGeom>
          <a:solidFill>
            <a:srgbClr val="E7F3EC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2"/>
          <p:cNvSpPr/>
          <p:nvPr/>
        </p:nvSpPr>
        <p:spPr>
          <a:xfrm>
            <a:off x="7818120" y="4023360"/>
            <a:ext cx="548640" cy="548640"/>
          </a:xfrm>
          <a:prstGeom prst="ellipse">
            <a:avLst/>
          </a:prstGeom>
          <a:solidFill>
            <a:srgbClr val="3AA76D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0766" y="4166006"/>
            <a:ext cx="263347" cy="263347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458200" y="4069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A7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DSGVO-Vorteil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7818120" y="466344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E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Nicht-parametrisches Wissen ist löschbar: Dokument aus dem Index </a:t>
            </a:r>
            <a:r>
              <a:rPr lang="en-US" sz="1250" dirty="0" err="1">
                <a:solidFill>
                  <a:srgbClr val="2E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entfernen</a:t>
            </a:r>
            <a:r>
              <a:rPr lang="en-US" sz="1250" dirty="0">
                <a:solidFill>
                  <a:srgbClr val="2E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fertig. Kein Modell-Retraining nötig.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640080" y="576072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diesen Prompt zeigt Notebook 01 </a:t>
            </a: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</a:t>
            </a: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die „Generierung" simulieren wir dann deterministisch, damit alles kostenlos bleibt.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naive Pipeline </a:t>
            </a: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  <a:sym typeface="Wingdings" panose="05000000000000000000" pitchFamily="2" charset="2"/>
              </a:rPr>
              <a:t></a:t>
            </a: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unser Startpunkt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5146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485900" y="23774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870" y="259141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91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367588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Absatz = 1 Chunk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2968" y="3063240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47288" y="2057400"/>
            <a:ext cx="25146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7"/>
          <p:cNvSpPr/>
          <p:nvPr/>
        </p:nvSpPr>
        <p:spPr>
          <a:xfrm>
            <a:off x="4293108" y="23774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078" y="2591410"/>
            <a:ext cx="395021" cy="3950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84448" y="3291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3584448" y="367588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MiniLM, mehrsprachig</a:t>
            </a:r>
            <a:endParaRPr lang="en-US" sz="12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063240"/>
            <a:ext cx="256032" cy="25603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54496" y="2057400"/>
            <a:ext cx="25146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1"/>
          <p:cNvSpPr/>
          <p:nvPr/>
        </p:nvSpPr>
        <p:spPr>
          <a:xfrm>
            <a:off x="7100316" y="23774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4286" y="2591410"/>
            <a:ext cx="395021" cy="39502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391656" y="3291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Vektorsuche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391656" y="367588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Kosinus, Top-k</a:t>
            </a:r>
            <a:endParaRPr lang="en-US" sz="12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7384" y="3063240"/>
            <a:ext cx="256032" cy="256032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061704" y="2057400"/>
            <a:ext cx="25146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15"/>
          <p:cNvSpPr/>
          <p:nvPr/>
        </p:nvSpPr>
        <p:spPr>
          <a:xfrm>
            <a:off x="9907524" y="2377440"/>
            <a:ext cx="822960" cy="82296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1494" y="2591410"/>
            <a:ext cx="395021" cy="395021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198864" y="3291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Antwort</a:t>
            </a:r>
            <a:endParaRPr lang="en-US" sz="1600" dirty="0"/>
          </a:p>
        </p:txBody>
      </p:sp>
      <p:sp>
        <p:nvSpPr>
          <p:cNvPr id="26" name="Text 17"/>
          <p:cNvSpPr/>
          <p:nvPr/>
        </p:nvSpPr>
        <p:spPr>
          <a:xfrm>
            <a:off x="9198864" y="367588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dem besten Chunk</a:t>
            </a:r>
            <a:endParaRPr lang="en-US" sz="1250" dirty="0"/>
          </a:p>
        </p:txBody>
      </p:sp>
      <p:sp>
        <p:nvSpPr>
          <p:cNvPr id="27" name="Shape 18"/>
          <p:cNvSpPr/>
          <p:nvPr/>
        </p:nvSpPr>
        <p:spPr>
          <a:xfrm>
            <a:off x="640080" y="4754880"/>
            <a:ext cx="10881360" cy="1097280"/>
          </a:xfrm>
          <a:prstGeom prst="roundRect">
            <a:avLst>
              <a:gd name="adj" fmla="val 7500"/>
            </a:avLst>
          </a:prstGeom>
          <a:solidFill>
            <a:srgbClr val="0B2545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Shape 19"/>
          <p:cNvSpPr/>
          <p:nvPr/>
        </p:nvSpPr>
        <p:spPr>
          <a:xfrm>
            <a:off x="960120" y="498348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6541" y="5149901"/>
            <a:ext cx="307238" cy="30723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737360" y="4983480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 Übung 1:  </a:t>
            </a:r>
            <a:r>
              <a:rPr lang="en-US" sz="14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Kosinus-Ähnlichkeit und die Top-k-Suche selbst implementieren. Eine ✅-Selbsttest-Zelle prüft euch automatisch.</a:t>
            </a:r>
            <a:endParaRPr lang="en-US" sz="1450" dirty="0"/>
          </a:p>
        </p:txBody>
      </p:sp>
      <p:sp>
        <p:nvSpPr>
          <p:cNvPr id="31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GRENZE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Zwei blinde Flecken der Vektorsuche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94960" cy="3063240"/>
          </a:xfrm>
          <a:prstGeom prst="roundRect">
            <a:avLst>
              <a:gd name="adj" fmla="val 2687"/>
            </a:avLst>
          </a:prstGeom>
          <a:solidFill>
            <a:srgbClr val="FBEDE2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005840" y="2194560"/>
            <a:ext cx="731520" cy="731520"/>
          </a:xfrm>
          <a:prstGeom prst="ellipse">
            <a:avLst/>
          </a:prstGeom>
          <a:solidFill>
            <a:srgbClr val="E07A3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035" y="238475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240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Mismatch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920240" y="25786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„SLA für P1-Tickets?"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05840" y="3383280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Wiki schreibt „Service Level Agreement" und „Priority-1-Vorfälle“, aber nie die Kürzel. Bei internen Codes und Versionsnummern bleibt die Bedeutungssuche unzuverlässig.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9360" y="1874520"/>
            <a:ext cx="5394960" cy="3063240"/>
          </a:xfrm>
          <a:prstGeom prst="roundRect">
            <a:avLst>
              <a:gd name="adj" fmla="val 2687"/>
            </a:avLst>
          </a:prstGeom>
          <a:solidFill>
            <a:srgbClr val="E9F1F5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6675120" y="21945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5315" y="238475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0" y="2240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andere Extrem: BM25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589520" y="25786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„Kosten für Cloud-Speicher"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6675120" y="3383280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Reine Keyword-Suche findet keine Seite, die nur von „Preisen für Objektspeicherung" spricht. Sie kennt exakte Wörter, aber keine Bedeutung.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40080" y="5166360"/>
            <a:ext cx="10881360" cy="82296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3"/>
          <p:cNvSpPr/>
          <p:nvPr/>
        </p:nvSpPr>
        <p:spPr>
          <a:xfrm>
            <a:off x="960120" y="516636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Diagnose:  </a:t>
            </a:r>
            <a:r>
              <a:rPr lang="en-US" sz="15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Verfahren allein reicht nicht. Wir brauchen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Bedeutung UND exakte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Begriffe</a:t>
            </a:r>
            <a:r>
              <a:rPr lang="en-US" sz="15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</a:t>
            </a:r>
            <a:r>
              <a:rPr lang="en-US" sz="15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führt uns zu Hybrid Search.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229600" y="4480560"/>
            <a:ext cx="5943600" cy="3108960"/>
          </a:xfrm>
          <a:prstGeom prst="roundRect">
            <a:avLst>
              <a:gd name="adj" fmla="val 11765"/>
            </a:avLst>
          </a:prstGeom>
          <a:solidFill>
            <a:srgbClr val="2EC4B6">
              <a:alpha val="34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822960" y="1051560"/>
            <a:ext cx="1188720" cy="118872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" y="1360627"/>
            <a:ext cx="570586" cy="570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IHR · HANDS-ON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240280" y="14173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01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RAG bauen &amp; an die Grenze bringen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36118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0332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5661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Chunking, Embeddings und die Vektorsuche zum Laufen bringen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822960" y="42702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61688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422452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1: Kosinus-Ähnlichkeit + Top-k selbst implementieren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822960" y="492861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020056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488289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zwei blinden Flecken am eigenen Rechner erleben</a:t>
            </a:r>
            <a:endParaRPr lang="en-US" sz="1550" dirty="0"/>
          </a:p>
        </p:txBody>
      </p:sp>
      <p:sp>
        <p:nvSpPr>
          <p:cNvPr id="17" name="Shape 11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35507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8138160" y="4297680"/>
            <a:ext cx="5943600" cy="3108960"/>
          </a:xfrm>
          <a:prstGeom prst="roundRect">
            <a:avLst>
              <a:gd name="adj" fmla="val 11765"/>
            </a:avLst>
          </a:prstGeom>
          <a:solidFill>
            <a:srgbClr val="1C7293">
              <a:alpha val="42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 rot="1200000">
            <a:off x="8961120" y="4663440"/>
            <a:ext cx="5943600" cy="2011680"/>
          </a:xfrm>
          <a:prstGeom prst="roundRect">
            <a:avLst>
              <a:gd name="adj" fmla="val 18182"/>
            </a:avLst>
          </a:prstGeom>
          <a:solidFill>
            <a:srgbClr val="2EC4B6">
              <a:alpha val="36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51460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RAG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4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brauchbaren Treffern zu präzisen, überprüfbaren Antworten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4370832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234440" y="427024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Search: BM25 und Vektorsuche vereint (RRF)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68680" y="4791456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1234440" y="4690872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Cross-Encoder-Reranking und das zweistufige Muster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68680" y="5212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1234440" y="5111496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Metadaten-Falle: Relevanz ist nicht Gültigkeit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5632704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1234440" y="55321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mit Hit@3, MRR und der RAGAS-Logik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0195560" y="2194560"/>
            <a:ext cx="1371600" cy="1371600"/>
          </a:xfrm>
          <a:prstGeom prst="ellipse">
            <a:avLst/>
          </a:prstGeom>
          <a:solidFill>
            <a:srgbClr val="16305A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2176" y="2551176"/>
            <a:ext cx="658368" cy="65836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02 · KONZEPT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Search: zwei Sucher, zwei Stärken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960120" y="21945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" y="23728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2402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BM25 · Keyword-Suche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60120" y="3063240"/>
            <a:ext cx="4617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Vergleicht exakte Wortformen (seit den 90ern Standard).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 bei Codes, Produktnamen, Fachbegriffen.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für Synonyme und Umschreibungen.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25780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6583680" y="2194560"/>
            <a:ext cx="685800" cy="68580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988" y="23728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2402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· Vektorsuche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583680" y="3063240"/>
            <a:ext cx="4617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Vergleicht Bedeutung über Embeddings.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 bei Synonymen und Umgangssprache.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Schwach bei exakten, semantisch armen Begriffen.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4892040"/>
            <a:ext cx="10881360" cy="1097280"/>
          </a:xfrm>
          <a:prstGeom prst="roundRect">
            <a:avLst>
              <a:gd name="adj" fmla="val 7500"/>
            </a:avLst>
          </a:prstGeom>
          <a:solidFill>
            <a:srgbClr val="0B2545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1"/>
          <p:cNvSpPr/>
          <p:nvPr/>
        </p:nvSpPr>
        <p:spPr>
          <a:xfrm>
            <a:off x="960120" y="512064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1" y="528706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5120640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Idee:  </a:t>
            </a:r>
            <a:r>
              <a:rPr lang="en-US" sz="15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parallel laufen lassen und die Ergebnislisten fair verschmelzen. Aber die Scores sind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vergleichbar</a:t>
            </a:r>
            <a:r>
              <a:rPr lang="en-US" sz="15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(BM25: 0…&gt;10, Kosinus: −1…1). Wie fusioniert man das?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VERTIEFUNG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BM25 verstehen: drei Zutaten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(„Best Matching 25") ist der Standard klassischer Suchmaschinen. Ein Dokument ist relevant, wenn es die Suchbegriffe </a:t>
            </a:r>
            <a:r>
              <a:rPr lang="en-US" sz="1400" dirty="0" err="1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passend</a:t>
            </a: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enthält</a:t>
            </a: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drei Faktoren zusammen: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F4F8FB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914400" y="24688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263530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2004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 Frequency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379476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oft steht der Begriff im Dokument? Öfter = </a:t>
            </a:r>
            <a:r>
              <a:rPr lang="en-US" sz="1200" dirty="0" err="1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relevanter</a:t>
            </a: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aber mit abnehmendem Grenznutzen.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80560" y="219456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F4F8FB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4754880" y="246888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301" y="263530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54880" y="32004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Inverse Document Frequency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754880" y="379476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selten ist der Begriff im ganzen Korpus? Seltene Wörter tragen mehr Information als „und" oder „die".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321040" y="219456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F4F8FB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2"/>
          <p:cNvSpPr/>
          <p:nvPr/>
        </p:nvSpPr>
        <p:spPr>
          <a:xfrm>
            <a:off x="8595360" y="2468880"/>
            <a:ext cx="640080" cy="64008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1781" y="263530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95360" y="32004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Längen-Normalisierung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595360" y="379476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Lange Dokumente enthalten Begriffe naturgemäß öfter. BM25 rechnet das heraus, um kurze nicht zu benachteiligen.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493776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0B2545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Text 16"/>
          <p:cNvSpPr/>
          <p:nvPr/>
        </p:nvSpPr>
        <p:spPr>
          <a:xfrm>
            <a:off x="960120" y="493776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es die Vektorsuche ergänzt:  </a:t>
            </a:r>
            <a:r>
              <a:rPr lang="en-US" sz="14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matcht exakte Zeichenketten. Genau deshalb trifft es Fehlercodes wie „NL-410" </a:t>
            </a:r>
            <a:r>
              <a:rPr lang="en-US" sz="1400" dirty="0" err="1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</a:t>
            </a:r>
            <a:r>
              <a:rPr lang="en-US" sz="14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dort, wo Embeddings scheitern. Es versteht nur keine Synonyme. Die perfekte Ergänzung zur Bedeutungssuche.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02 · KERNKONZEPT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Reciprocal Rank Fusion (RRF)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29200" cy="2148840"/>
          </a:xfrm>
          <a:prstGeom prst="roundRect">
            <a:avLst>
              <a:gd name="adj" fmla="val 3830"/>
            </a:avLst>
          </a:prstGeom>
          <a:solidFill>
            <a:srgbClr val="0B2545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960120" y="2103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</a:t>
            </a:r>
            <a:r>
              <a:rPr lang="en-US" sz="1350" i="1" dirty="0" err="1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Ränge</a:t>
            </a:r>
            <a:r>
              <a:rPr lang="en-US" sz="1350" i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i="1" dirty="0" err="1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zählen</a:t>
            </a:r>
            <a:r>
              <a:rPr lang="en-US" sz="1350" i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keine rohen Scores.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60120" y="269748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RRF(d) = </a:t>
            </a:r>
            <a:r>
              <a:rPr lang="en-US" sz="2600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</a:t>
            </a: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/ (k + rang</a:t>
            </a:r>
            <a:r>
              <a:rPr lang="en-US" sz="1500" i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(d))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33832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60</a:t>
            </a:r>
            <a:r>
              <a:rPr lang="en-US" sz="1300" dirty="0">
                <a:solidFill>
                  <a:srgbClr val="C4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robuster Default aus dem Original-Paper (Cormack et al., SIGIR 2009).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18745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 (aus VL 3)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0" y="2331720"/>
            <a:ext cx="914400" cy="566928"/>
          </a:xfrm>
          <a:prstGeom prst="rect">
            <a:avLst/>
          </a:prstGeom>
          <a:solidFill>
            <a:srgbClr val="13315C"/>
          </a:solidFill>
          <a:ln w="9525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943600" y="2331720"/>
            <a:ext cx="91440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0" y="2331720"/>
            <a:ext cx="1097280" cy="566928"/>
          </a:xfrm>
          <a:prstGeom prst="rect">
            <a:avLst/>
          </a:prstGeom>
          <a:solidFill>
            <a:srgbClr val="13315C"/>
          </a:solidFill>
          <a:ln w="9525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858000" y="23317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55280" y="2331720"/>
            <a:ext cx="1097280" cy="566928"/>
          </a:xfrm>
          <a:prstGeom prst="rect">
            <a:avLst/>
          </a:prstGeom>
          <a:solidFill>
            <a:srgbClr val="13315C"/>
          </a:solidFill>
          <a:ln w="9525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7955280" y="23317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52560" y="2331720"/>
            <a:ext cx="1371600" cy="566928"/>
          </a:xfrm>
          <a:prstGeom prst="rect">
            <a:avLst/>
          </a:prstGeom>
          <a:solidFill>
            <a:srgbClr val="13315C"/>
          </a:solidFill>
          <a:ln w="9525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9052560" y="23317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424160" y="2331720"/>
            <a:ext cx="640080" cy="566928"/>
          </a:xfrm>
          <a:prstGeom prst="rect">
            <a:avLst/>
          </a:prstGeom>
          <a:solidFill>
            <a:srgbClr val="13315C"/>
          </a:solidFill>
          <a:ln w="9525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10424160" y="233172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0" y="2898648"/>
            <a:ext cx="914400" cy="566928"/>
          </a:xfrm>
          <a:prstGeom prst="rect">
            <a:avLst/>
          </a:prstGeom>
          <a:solidFill>
            <a:srgbClr val="F4F8FB"/>
          </a:solidFill>
          <a:ln w="9525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5943600" y="2898648"/>
            <a:ext cx="91440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0" y="2898648"/>
            <a:ext cx="1097280" cy="566928"/>
          </a:xfrm>
          <a:prstGeom prst="rect">
            <a:avLst/>
          </a:prstGeom>
          <a:solidFill>
            <a:srgbClr val="F4F8FB"/>
          </a:solidFill>
          <a:ln w="9525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6858000" y="289864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955280" y="2898648"/>
            <a:ext cx="1097280" cy="566928"/>
          </a:xfrm>
          <a:prstGeom prst="rect">
            <a:avLst/>
          </a:prstGeom>
          <a:solidFill>
            <a:srgbClr val="F4F8FB"/>
          </a:solidFill>
          <a:ln w="9525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7955280" y="289864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52560" y="2898648"/>
            <a:ext cx="1371600" cy="566928"/>
          </a:xfrm>
          <a:prstGeom prst="rect">
            <a:avLst/>
          </a:prstGeom>
          <a:solidFill>
            <a:srgbClr val="F4F8FB"/>
          </a:solidFill>
          <a:ln w="9525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9052560" y="289864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0,0321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424160" y="2898648"/>
            <a:ext cx="640080" cy="566928"/>
          </a:xfrm>
          <a:prstGeom prst="rect">
            <a:avLst/>
          </a:prstGeom>
          <a:solidFill>
            <a:srgbClr val="F4F8FB"/>
          </a:solidFill>
          <a:ln w="9525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10424160" y="289864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943600" y="3465576"/>
            <a:ext cx="914400" cy="566928"/>
          </a:xfrm>
          <a:prstGeom prst="rect">
            <a:avLst/>
          </a:prstGeom>
          <a:solidFill>
            <a:srgbClr val="E4F6F3"/>
          </a:solidFill>
          <a:ln w="9525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5943600" y="3465576"/>
            <a:ext cx="91440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858000" y="3465576"/>
            <a:ext cx="1097280" cy="566928"/>
          </a:xfrm>
          <a:prstGeom prst="rect">
            <a:avLst/>
          </a:prstGeom>
          <a:solidFill>
            <a:srgbClr val="E4F6F3"/>
          </a:solidFill>
          <a:ln w="9525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6858000" y="346557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955280" y="3465576"/>
            <a:ext cx="1097280" cy="566928"/>
          </a:xfrm>
          <a:prstGeom prst="rect">
            <a:avLst/>
          </a:prstGeom>
          <a:solidFill>
            <a:srgbClr val="E4F6F3"/>
          </a:solidFill>
          <a:ln w="9525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7955280" y="346557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052560" y="3465576"/>
            <a:ext cx="1371600" cy="566928"/>
          </a:xfrm>
          <a:prstGeom prst="rect">
            <a:avLst/>
          </a:prstGeom>
          <a:solidFill>
            <a:srgbClr val="E4F6F3"/>
          </a:solidFill>
          <a:ln w="9525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9052560" y="346557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0,0326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0424160" y="3465576"/>
            <a:ext cx="640080" cy="566928"/>
          </a:xfrm>
          <a:prstGeom prst="rect">
            <a:avLst/>
          </a:prstGeom>
          <a:solidFill>
            <a:srgbClr val="E4F6F3"/>
          </a:solidFill>
          <a:ln w="9525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10424160" y="3465576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943600" y="4032504"/>
            <a:ext cx="914400" cy="566928"/>
          </a:xfrm>
          <a:prstGeom prst="rect">
            <a:avLst/>
          </a:prstGeom>
          <a:solidFill>
            <a:srgbClr val="F4F8FB"/>
          </a:solidFill>
          <a:ln w="9525">
            <a:solidFill>
              <a:srgbClr val="DCE6F1"/>
            </a:solidFill>
            <a:prstDash val="solid"/>
          </a:ln>
        </p:spPr>
        <p:txBody>
          <a:bodyPr/>
          <a:lstStyle/>
          <a:p>
            <a:pPr algn="ctr"/>
            <a:endParaRPr lang="de-DE" dirty="0"/>
          </a:p>
        </p:txBody>
      </p:sp>
      <p:sp>
        <p:nvSpPr>
          <p:cNvPr id="40" name="Text 38"/>
          <p:cNvSpPr/>
          <p:nvPr/>
        </p:nvSpPr>
        <p:spPr>
          <a:xfrm>
            <a:off x="5943600" y="4032504"/>
            <a:ext cx="91440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858000" y="4032504"/>
            <a:ext cx="1097280" cy="566928"/>
          </a:xfrm>
          <a:prstGeom prst="rect">
            <a:avLst/>
          </a:prstGeom>
          <a:solidFill>
            <a:srgbClr val="F4F8FB"/>
          </a:solidFill>
          <a:ln w="9525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Text 40"/>
          <p:cNvSpPr/>
          <p:nvPr/>
        </p:nvSpPr>
        <p:spPr>
          <a:xfrm>
            <a:off x="6858000" y="403250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955280" y="4032504"/>
            <a:ext cx="1097280" cy="566928"/>
          </a:xfrm>
          <a:prstGeom prst="rect">
            <a:avLst/>
          </a:prstGeom>
          <a:solidFill>
            <a:srgbClr val="F4F8FB"/>
          </a:solidFill>
          <a:ln w="9525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Text 42"/>
          <p:cNvSpPr/>
          <p:nvPr/>
        </p:nvSpPr>
        <p:spPr>
          <a:xfrm>
            <a:off x="7955280" y="403250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9052560" y="4032504"/>
            <a:ext cx="1371600" cy="566928"/>
          </a:xfrm>
          <a:prstGeom prst="rect">
            <a:avLst/>
          </a:prstGeom>
          <a:solidFill>
            <a:srgbClr val="F4F8FB"/>
          </a:solidFill>
          <a:ln w="9525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44"/>
          <p:cNvSpPr/>
          <p:nvPr/>
        </p:nvSpPr>
        <p:spPr>
          <a:xfrm>
            <a:off x="9052560" y="403250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0,0319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10424160" y="4032504"/>
            <a:ext cx="640080" cy="566928"/>
          </a:xfrm>
          <a:prstGeom prst="rect">
            <a:avLst/>
          </a:prstGeom>
          <a:solidFill>
            <a:srgbClr val="F4F8FB"/>
          </a:solidFill>
          <a:ln w="9525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8" name="Text 46"/>
          <p:cNvSpPr/>
          <p:nvPr/>
        </p:nvSpPr>
        <p:spPr>
          <a:xfrm>
            <a:off x="10424160" y="4032504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943600" y="489204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gewinnt: </a:t>
            </a:r>
            <a:r>
              <a:rPr lang="en-US" sz="14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 2 und Rang 1. Konsistenz über beide Listen wird belohnt — nicht der eine Spitzenplatz.</a:t>
            </a:r>
            <a:endParaRPr lang="en-US" sz="1450" dirty="0"/>
          </a:p>
        </p:txBody>
      </p:sp>
      <p:sp>
        <p:nvSpPr>
          <p:cNvPr id="50" name="Shape 48"/>
          <p:cNvSpPr/>
          <p:nvPr/>
        </p:nvSpPr>
        <p:spPr>
          <a:xfrm>
            <a:off x="640080" y="4297680"/>
            <a:ext cx="5029200" cy="1691640"/>
          </a:xfrm>
          <a:prstGeom prst="roundRect">
            <a:avLst>
              <a:gd name="adj" fmla="val 4865"/>
            </a:avLst>
          </a:prstGeom>
          <a:solidFill>
            <a:srgbClr val="F4F8FB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1" name="Text 49"/>
          <p:cNvSpPr/>
          <p:nvPr/>
        </p:nvSpPr>
        <p:spPr>
          <a:xfrm>
            <a:off x="960120" y="452628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 Übung 2:  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implementieren. Der Selbsttest ist genau dieses </a:t>
            </a:r>
            <a:r>
              <a:rPr lang="en-US" sz="1400" dirty="0" err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 muss gewinnen (1/62 + 1/61).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229600" y="4480560"/>
            <a:ext cx="5943600" cy="3108960"/>
          </a:xfrm>
          <a:prstGeom prst="roundRect">
            <a:avLst>
              <a:gd name="adj" fmla="val 11765"/>
            </a:avLst>
          </a:prstGeom>
          <a:solidFill>
            <a:srgbClr val="2EC4B6">
              <a:alpha val="34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822960" y="1051560"/>
            <a:ext cx="1188720" cy="118872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" y="1360627"/>
            <a:ext cx="570586" cy="570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IHR · HANDS-ON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240280" y="14173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02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Search &amp; RRF selbst bauen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36118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0332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5661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gegen die Vektorsuche antreten lassen (das Duell)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822960" y="42702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61688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422452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2: Reciprocal Rank Fusion implementieren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822960" y="492861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020056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488289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blinden Flecken aus NB 01 </a:t>
            </a:r>
            <a:r>
              <a:rPr lang="en-US" sz="1550" dirty="0" err="1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verschwinden</a:t>
            </a:r>
            <a:r>
              <a:rPr lang="en-US" sz="15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ohne neue Nachteile</a:t>
            </a:r>
            <a:endParaRPr lang="en-US" sz="1550" dirty="0"/>
          </a:p>
        </p:txBody>
      </p:sp>
      <p:sp>
        <p:nvSpPr>
          <p:cNvPr id="17" name="Shape 11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35507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03 · KONZEPT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Cross-Encoder Reranking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2651760"/>
          </a:xfrm>
          <a:prstGeom prst="roundRect">
            <a:avLst>
              <a:gd name="adj" fmla="val 3103"/>
            </a:avLst>
          </a:prstGeom>
          <a:solidFill>
            <a:srgbClr val="F4F8FB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960120" y="210312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Bi-Encoder  (Retrieval)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5603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 und Dokument getrennt encodiert. Vektoren sind vorberechenbar.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60120" y="34290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E3EEF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 · Millionen Chunks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34290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0E4D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200400" y="3429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Ungenauer im Ranking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3931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und Dokument „sehen" einander nie.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874520"/>
            <a:ext cx="5257800" cy="2651760"/>
          </a:xfrm>
          <a:prstGeom prst="roundRect">
            <a:avLst>
              <a:gd name="adj" fmla="val 3103"/>
            </a:avLst>
          </a:prstGeom>
          <a:solidFill>
            <a:srgbClr val="0B2545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583680" y="210312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Cross-Encoder  (Reranking)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25603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4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Liest [Frage] [SEP] [Dokument] gemeinsam und gibt einen direkten Relevanz-Score.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583680" y="34290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B3A6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6583680" y="34290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Sehr präzise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458200" y="342900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3A2A1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8458200" y="34290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Teuer · nur für Top-N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83680" y="3931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 Aufmerksamkeit über das Frage-Dokument-Paar.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754880"/>
            <a:ext cx="10881360" cy="1097280"/>
          </a:xfrm>
          <a:prstGeom prst="roundRect">
            <a:avLst>
              <a:gd name="adj" fmla="val 7500"/>
            </a:avLst>
          </a:prstGeom>
          <a:solidFill>
            <a:srgbClr val="E7F3EC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960120" y="4983480"/>
            <a:ext cx="640080" cy="640080"/>
          </a:xfrm>
          <a:prstGeom prst="ellipse">
            <a:avLst/>
          </a:prstGeom>
          <a:solidFill>
            <a:srgbClr val="3AA76D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1" y="5149901"/>
            <a:ext cx="307238" cy="30723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737360" y="4983480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AA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 Übung 3:  </a:t>
            </a:r>
            <a:r>
              <a:rPr lang="en-US" sz="1450" dirty="0">
                <a:solidFill>
                  <a:srgbClr val="2E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Reranking </a:t>
            </a:r>
            <a:r>
              <a:rPr lang="en-US" sz="1450" dirty="0" err="1">
                <a:solidFill>
                  <a:srgbClr val="2E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implementieren</a:t>
            </a:r>
            <a:r>
              <a:rPr lang="en-US" sz="1450" dirty="0">
                <a:solidFill>
                  <a:srgbClr val="2E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den Cross-Encoder alle Kandidaten-Paare bewerten lassen und die Top-N zurückgeben.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ZUSAMMENSPIEL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zweistufige Muster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Trick: erst breit sammeln (billig), dann präzise sortieren (teuer, aber nur für wenige Kandidaten).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914400" y="2377440"/>
            <a:ext cx="5943600" cy="868680"/>
          </a:xfrm>
          <a:prstGeom prst="roundRect">
            <a:avLst>
              <a:gd name="adj" fmla="val 6316"/>
            </a:avLst>
          </a:prstGeom>
          <a:solidFill>
            <a:srgbClr val="D4DEE8"/>
          </a:solidFill>
          <a:ln/>
          <a:effectLst>
            <a:outerShdw blurRad="63500" dist="25400" dir="5400000" algn="bl" rotWithShape="0">
              <a:srgbClr val="0B2545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914400" y="2523744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Chunks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86207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gesamte Korpus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758184" y="3291840"/>
            <a:ext cx="256032" cy="256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783080" y="3611880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0B2545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1783080" y="375818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Hybrid Search → Top-50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783080" y="409651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bloß nichts Relevantes verpassen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758184" y="4526280"/>
            <a:ext cx="256032" cy="25603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651760" y="4846320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2EC4B6"/>
          </a:solidFill>
          <a:ln/>
          <a:effectLst>
            <a:outerShdw blurRad="63500" dist="25400" dir="5400000" algn="bl" rotWithShape="0">
              <a:srgbClr val="0B2545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0"/>
          <p:cNvSpPr/>
          <p:nvPr/>
        </p:nvSpPr>
        <p:spPr>
          <a:xfrm>
            <a:off x="2651760" y="499262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Cross-Encoder → Top-5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2651760" y="5330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das Beste nach ganz oben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498080" y="2377440"/>
            <a:ext cx="40233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3"/>
          <p:cNvSpPr/>
          <p:nvPr/>
        </p:nvSpPr>
        <p:spPr>
          <a:xfrm>
            <a:off x="7772400" y="26517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5046" y="279440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2697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1: Recall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7772400" y="324612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Billige Verfahren holen viele Kandidaten. Lieber ein paar zu viel als das Richtige verpassen.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498080" y="4114800"/>
            <a:ext cx="40233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Shape 17"/>
          <p:cNvSpPr/>
          <p:nvPr/>
        </p:nvSpPr>
        <p:spPr>
          <a:xfrm>
            <a:off x="7772400" y="438912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5046" y="4531766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412480" y="4434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2: Precision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772400" y="498348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teure Cross-Encoder bewertet nur die 50 Kandidaten und hebt die besten 5 ins LLM.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229600" y="4480560"/>
            <a:ext cx="5943600" cy="3108960"/>
          </a:xfrm>
          <a:prstGeom prst="roundRect">
            <a:avLst>
              <a:gd name="adj" fmla="val 11765"/>
            </a:avLst>
          </a:prstGeom>
          <a:solidFill>
            <a:srgbClr val="2EC4B6">
              <a:alpha val="34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822960" y="1051560"/>
            <a:ext cx="1188720" cy="118872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" y="1360627"/>
            <a:ext cx="570586" cy="570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IHR · HANDS-ON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240280" y="14173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03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Reranking </a:t>
            </a:r>
            <a:r>
              <a:rPr lang="en-US" sz="2200" b="1" dirty="0" err="1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bauen</a:t>
            </a:r>
            <a:r>
              <a:rPr lang="en-US" sz="2200" b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und dem System eine Falle stellen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36118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0332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5661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3: Cross-Encoder-Reranking implementieren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822960" y="42702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61688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422452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voll ausgebaute Pipeline an einer Alltagsfrage testen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822960" y="492861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020056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488289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4: den Fehler </a:t>
            </a:r>
            <a:r>
              <a:rPr lang="en-US" sz="1550" dirty="0" err="1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beheben</a:t>
            </a:r>
            <a:r>
              <a:rPr lang="en-US" sz="15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sobald wir ihn verstanden haben</a:t>
            </a:r>
            <a:endParaRPr lang="en-US" sz="1550" dirty="0"/>
          </a:p>
        </p:txBody>
      </p:sp>
      <p:sp>
        <p:nvSpPr>
          <p:cNvPr id="17" name="Shape 11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35507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AHA-MOMENT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Relevanz ist nicht Gültigkeit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29200" cy="960120"/>
          </a:xfrm>
          <a:prstGeom prst="roundRect">
            <a:avLst>
              <a:gd name="adj" fmla="val 8571"/>
            </a:avLst>
          </a:prstGeom>
          <a:solidFill>
            <a:srgbClr val="1B3A66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914400" y="2194560"/>
            <a:ext cx="502920" cy="502920"/>
          </a:xfrm>
          <a:prstGeom prst="ellipse">
            <a:avLst/>
          </a:prstGeom>
          <a:solidFill>
            <a:srgbClr val="E07A3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" y="23253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1168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„Wie viele Tage Homeoffice sind erlaubt?"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40080" y="3063240"/>
            <a:ext cx="5029200" cy="2697480"/>
          </a:xfrm>
          <a:prstGeom prst="roundRect">
            <a:avLst>
              <a:gd name="adj" fmla="val 3051"/>
            </a:avLst>
          </a:prstGeom>
          <a:solidFill>
            <a:srgbClr val="3A1F14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960120" y="32918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Pipeline antwortet: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60120" y="36576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„maximal zwei Tage"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60120" y="4297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</a:t>
            </a:r>
            <a:r>
              <a:rPr lang="en-US" sz="125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Homeoffice-Regelung (2022) · Status: archiviert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60120" y="48006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F0D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Flüssig. Mit Quellenangabe. </a:t>
            </a:r>
            <a:r>
              <a:rPr lang="en-US" sz="1350" i="1" dirty="0" err="1">
                <a:solidFill>
                  <a:srgbClr val="F0D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Völlig</a:t>
            </a:r>
            <a:r>
              <a:rPr lang="en-US" sz="1350" i="1" dirty="0">
                <a:solidFill>
                  <a:srgbClr val="F0D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i="1" dirty="0" err="1">
                <a:solidFill>
                  <a:srgbClr val="F0D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überzeugend</a:t>
            </a:r>
            <a:r>
              <a:rPr lang="en-US" sz="1350" i="1" dirty="0">
                <a:solidFill>
                  <a:srgbClr val="F0D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falsch. Gültig sind seit 2025 drei Tage.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035040" y="1965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passiert das?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035040" y="251460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2"/>
          <p:cNvSpPr/>
          <p:nvPr/>
        </p:nvSpPr>
        <p:spPr>
          <a:xfrm>
            <a:off x="6035040" y="2514600"/>
            <a:ext cx="16002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772400" y="251460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 err="1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liebt</a:t>
            </a:r>
            <a:r>
              <a:rPr lang="en-US" sz="12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2022, dort steht wörtlich &amp; oft „Homeoffice". 2025 spricht von „mobilem Arbeiten".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035040" y="352044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5"/>
          <p:cNvSpPr/>
          <p:nvPr/>
        </p:nvSpPr>
        <p:spPr>
          <a:xfrm>
            <a:off x="6035040" y="3520440"/>
            <a:ext cx="16002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772400" y="352044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findet 2022 </a:t>
            </a:r>
            <a:r>
              <a:rPr lang="en-US" sz="1250" dirty="0" err="1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ebenfalls</a:t>
            </a:r>
            <a:r>
              <a:rPr lang="en-US" sz="12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hochrelevant</a:t>
            </a:r>
            <a:r>
              <a:rPr lang="en-US" sz="12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</a:t>
            </a:r>
            <a:r>
              <a:rPr lang="en-US" sz="12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geht semantisch exakt um die Frage.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035040" y="452628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8"/>
          <p:cNvSpPr/>
          <p:nvPr/>
        </p:nvSpPr>
        <p:spPr>
          <a:xfrm>
            <a:off x="6035040" y="4526280"/>
            <a:ext cx="16002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772400" y="452628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bewertet literale Relevanz. Der 2022-Text </a:t>
            </a:r>
            <a:r>
              <a:rPr lang="en-US" sz="1250" dirty="0" err="1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passt</a:t>
            </a:r>
            <a:r>
              <a:rPr lang="en-US" sz="12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perfekt</a:t>
            </a:r>
            <a:r>
              <a:rPr lang="en-US" sz="12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dass er nicht mehr gilt, steht nicht drin.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035040" y="5532120"/>
            <a:ext cx="5486400" cy="685800"/>
          </a:xfrm>
          <a:prstGeom prst="roundRect">
            <a:avLst>
              <a:gd name="adj" fmla="val 12000"/>
            </a:avLst>
          </a:prstGeom>
          <a:solidFill>
            <a:srgbClr val="2EC4B6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Text 21"/>
          <p:cNvSpPr/>
          <p:nvPr/>
        </p:nvSpPr>
        <p:spPr>
          <a:xfrm>
            <a:off x="6126480" y="553212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drei taten exakt, wofür sie gebaut sind. Retrieval-Qualität ≠ korrekte Antwort.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AA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03 · ÜBUNG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Fix: Metadaten ernst nehmen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2194560"/>
          </a:xfrm>
          <a:prstGeom prst="roundRect">
            <a:avLst>
              <a:gd name="adj" fmla="val 3750"/>
            </a:avLst>
          </a:prstGeom>
          <a:solidFill>
            <a:srgbClr val="0B2545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960120" y="21031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Filter vor dem Reranking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60120" y="26060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B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kandidaten = [c for c in kandidaten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B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c["status"] != "archiviert"]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35661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4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Chunks trugen status und jahr die ganze Zeit mit sich.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257800" cy="2194560"/>
          </a:xfrm>
          <a:prstGeom prst="roundRect">
            <a:avLst>
              <a:gd name="adj" fmla="val 3750"/>
            </a:avLst>
          </a:prstGeom>
          <a:solidFill>
            <a:srgbClr val="E7F3EC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AA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antwortet die Pipeline: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0" y="2514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„drei Tage"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8368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</a:t>
            </a:r>
            <a:r>
              <a:rPr lang="en-US" sz="1250" b="1" dirty="0">
                <a:solidFill>
                  <a:srgbClr val="3AA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Richtlinie Mobiles Arbeiten (2025) · gültig ✓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0" y="36118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F5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Selbsttest bestätigt: archivierte Chunks sind raus, die gültige Quelle gewinnt.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10881360" cy="1645920"/>
          </a:xfrm>
          <a:prstGeom prst="roundRect">
            <a:avLst>
              <a:gd name="adj" fmla="val 5000"/>
            </a:avLst>
          </a:prstGeom>
          <a:solidFill>
            <a:srgbClr val="F4F8FB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1005840" y="4709160"/>
            <a:ext cx="777240" cy="777240"/>
          </a:xfrm>
          <a:prstGeom prst="ellipse">
            <a:avLst/>
          </a:prstGeom>
          <a:solidFill>
            <a:srgbClr val="3AA76D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922" y="4911242"/>
            <a:ext cx="373075" cy="37307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011680" y="4526280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Code war </a:t>
            </a:r>
            <a:r>
              <a:rPr lang="en-US" sz="1600" b="1" dirty="0" err="1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</a:t>
            </a: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Zeile, die Lektion ist es nicht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011680" y="493776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Gültigkeit, Aktualität, Zuständigkeit stehen in Metadaten, nicht </a:t>
            </a:r>
            <a:r>
              <a:rPr lang="en-US" sz="1300" dirty="0" err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Text und keine Retrieval-Stufe sieht sie von allein.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echte Engpass in Unternehmen: Wer pflegt den Status? Was tun bei widersprüchlichen, nicht archivierten Dokumenten?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Beweisen statt behaupten: die Evaluation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749040" cy="39776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Zwei Metriken auf 15 Gold-Fragen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880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46" y="302300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8620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Hit@3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00200" y="316382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 ein relevantes Dokument in den Top-3?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14400" y="388620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046" y="402884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86791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600200" y="416966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weit oben steht der erste Treffer?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914400" y="4892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 1 → 1,0 · Rang 2 → 0,5 · Rang 3 → 0,33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26280" y="1874520"/>
            <a:ext cx="699516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Text 12"/>
          <p:cNvSpPr/>
          <p:nvPr/>
        </p:nvSpPr>
        <p:spPr>
          <a:xfrm>
            <a:off x="484632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Retrieval-Qualität je Ausbaustufe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892040" y="3840480"/>
            <a:ext cx="1051560" cy="1417320"/>
          </a:xfrm>
          <a:prstGeom prst="roundRect">
            <a:avLst>
              <a:gd name="adj" fmla="val 347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6"/>
          <p:cNvSpPr/>
          <p:nvPr/>
        </p:nvSpPr>
        <p:spPr>
          <a:xfrm>
            <a:off x="4800600" y="53035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199632" y="4000500"/>
            <a:ext cx="1051560" cy="1257300"/>
          </a:xfrm>
          <a:prstGeom prst="roundRect">
            <a:avLst>
              <a:gd name="adj" fmla="val 3478"/>
            </a:avLst>
          </a:prstGeom>
          <a:solidFill>
            <a:srgbClr val="9FB2C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18"/>
          <p:cNvSpPr/>
          <p:nvPr/>
        </p:nvSpPr>
        <p:spPr>
          <a:xfrm>
            <a:off x="6108192" y="53035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7507224" y="3429000"/>
            <a:ext cx="1051560" cy="1828800"/>
          </a:xfrm>
          <a:prstGeom prst="roundRect">
            <a:avLst>
              <a:gd name="adj" fmla="val 347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0"/>
          <p:cNvSpPr/>
          <p:nvPr/>
        </p:nvSpPr>
        <p:spPr>
          <a:xfrm>
            <a:off x="7415784" y="53035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8814816" y="3268980"/>
            <a:ext cx="1051560" cy="1988820"/>
          </a:xfrm>
          <a:prstGeom prst="roundRect">
            <a:avLst>
              <a:gd name="adj" fmla="val 347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2"/>
          <p:cNvSpPr/>
          <p:nvPr/>
        </p:nvSpPr>
        <p:spPr>
          <a:xfrm>
            <a:off x="8723376" y="53035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Rerank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10122408" y="2971800"/>
            <a:ext cx="1051560" cy="2286000"/>
          </a:xfrm>
          <a:prstGeom prst="roundRect">
            <a:avLst>
              <a:gd name="adj" fmla="val 3478"/>
            </a:avLst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Text 24"/>
          <p:cNvSpPr/>
          <p:nvPr/>
        </p:nvSpPr>
        <p:spPr>
          <a:xfrm>
            <a:off x="10030968" y="53035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4754880" y="5257800"/>
            <a:ext cx="630936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ZENTRALE KOMPROMISS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vs. Recall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2468880"/>
          </a:xfrm>
          <a:prstGeom prst="roundRect">
            <a:avLst>
              <a:gd name="adj" fmla="val 3333"/>
            </a:avLst>
          </a:prstGeom>
          <a:solidFill>
            <a:srgbClr val="E9F1F5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960120" y="21945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" y="23728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2402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301752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allem Relevanten — wie viel habe ich gefunden? Hohes k, viele Kandidaten: nichts wird übersehen, aber es kommt auch Ballast mit.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257800" cy="2468880"/>
          </a:xfrm>
          <a:prstGeom prst="roundRect">
            <a:avLst>
              <a:gd name="adj" fmla="val 3333"/>
            </a:avLst>
          </a:prstGeom>
          <a:solidFill>
            <a:srgbClr val="E7F3EC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6583680" y="2194560"/>
            <a:ext cx="685800" cy="685800"/>
          </a:xfrm>
          <a:prstGeom prst="ellipse">
            <a:avLst/>
          </a:prstGeom>
          <a:solidFill>
            <a:srgbClr val="3AA76D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988" y="23728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2402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83680" y="301752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dem, was ich gefunden habe — wie viel ist wirklich relevant? Reranking und kleines k halten den Kontext sauber, riskieren aber, Gutes wegzulassen.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4526280"/>
            <a:ext cx="10881360" cy="1463040"/>
          </a:xfrm>
          <a:prstGeom prst="roundRect">
            <a:avLst>
              <a:gd name="adj" fmla="val 5625"/>
            </a:avLst>
          </a:prstGeom>
          <a:solidFill>
            <a:srgbClr val="0B2545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1"/>
          <p:cNvSpPr/>
          <p:nvPr/>
        </p:nvSpPr>
        <p:spPr>
          <a:xfrm>
            <a:off x="1005840" y="4892040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6035" y="508223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4709160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löst unsere Pipeline den Kompromiss auf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2011680" y="512064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(Hybrid Search) maximiert Recall</a:t>
            </a:r>
            <a:r>
              <a:rPr lang="en-US" sz="14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viele Kandidaten, nichts verpassen.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(Reranking) maximiert Precision</a:t>
            </a:r>
            <a:r>
              <a:rPr lang="en-US" sz="14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nur das Beste geht ans LLM. Genau das messen Hit@3 (Recall-nah) und MRR (Precision-nah).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INDUSTRIESTANDARD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RAGAS: vier Metriken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Unsere Metriken bewerten nur das Retrieval. RAGAS misst zusätzlich die </a:t>
            </a:r>
            <a:r>
              <a:rPr lang="en-US" sz="1400" dirty="0" err="1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Generierung</a:t>
            </a: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braucht dafür aber ein LLM als Judge (= API-Kosten).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914400" y="245059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E3EEF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914400" y="2450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23160" y="241401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Recall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14400" y="2852928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 die nötige Information überhaupt im abgerufenen Kontext?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345643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unser Hit@3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219456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6446520" y="245059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E3EEF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446520" y="2450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55280" y="241401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Precision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46520" y="2852928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Steht das </a:t>
            </a:r>
            <a:r>
              <a:rPr lang="en-US" sz="1250" dirty="0" err="1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Relevante</a:t>
            </a: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oben</a:t>
            </a: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ohne viel Irrelevantes dazwischen?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46520" y="345643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unser MRR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914400" y="427939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E4F6F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914400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Generierung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23160" y="424281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Faithfulness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14400" y="4681728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Hält sich die Antwort an den Kontext, ohne zu erfinden?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4400" y="528523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braucht LLM-Judge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402336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6446520" y="427939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E4F6F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6446520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Generierung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955280" y="424281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Relevancy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446520" y="4681728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Beantwortet die Antwort tatsächlich die gestellte Frage?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46520" y="528523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braucht LLM-Judge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IN DER PRAXIS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Diagnose-Logik: wo klemmt es?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eigentliche Wert von RAGAS: Die Kombination der Werte sagt nicht nur, DASS etwas falsch ist, sondern WO und was zu tun ist.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F4F8FB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822960" y="2340864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822960" y="2340864"/>
            <a:ext cx="32918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Faithfulness, ↑ Context Precision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97680" y="2322576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LLM ignoriert den Kontext oder überschreibt ihn mit eigenem Wissen.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487168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69680" y="2322576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System-Prompt schärfen, Modell wechseln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3108960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F4F8FB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9"/>
          <p:cNvSpPr/>
          <p:nvPr/>
        </p:nvSpPr>
        <p:spPr>
          <a:xfrm>
            <a:off x="822960" y="3255264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822960" y="3255264"/>
            <a:ext cx="32918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Context Recall, ↑ Faithfulness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297680" y="3236976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Retriever findet nicht </a:t>
            </a:r>
            <a:r>
              <a:rPr lang="en-US" sz="1200" dirty="0" err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</a:t>
            </a: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nutzt</a:t>
            </a: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aber gut, was er findet.</a:t>
            </a:r>
            <a:endParaRPr lang="en-US" sz="12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401568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869680" y="3236976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überdenken, Hybrid Search, k erhöhen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0080" y="4023360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F4F8FB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4"/>
          <p:cNvSpPr/>
          <p:nvPr/>
        </p:nvSpPr>
        <p:spPr>
          <a:xfrm>
            <a:off x="822960" y="4169664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5"/>
          <p:cNvSpPr/>
          <p:nvPr/>
        </p:nvSpPr>
        <p:spPr>
          <a:xfrm>
            <a:off x="822960" y="4169664"/>
            <a:ext cx="32918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Context Precision, ↑ Context Recall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297680" y="4151376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Retriever </a:t>
            </a:r>
            <a:r>
              <a:rPr lang="en-US" sz="1200" dirty="0" err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findet</a:t>
            </a: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</a:t>
            </a: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</a:t>
            </a: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auch viel Irrelevantes.</a:t>
            </a:r>
            <a:endParaRPr lang="en-US" sz="12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315968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869680" y="4151376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einsetzen, k reduzieren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40080" y="4937760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F4F8FB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Shape 19"/>
          <p:cNvSpPr/>
          <p:nvPr/>
        </p:nvSpPr>
        <p:spPr>
          <a:xfrm>
            <a:off x="822960" y="5084064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0"/>
          <p:cNvSpPr/>
          <p:nvPr/>
        </p:nvSpPr>
        <p:spPr>
          <a:xfrm>
            <a:off x="822960" y="5084064"/>
            <a:ext cx="32918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Answer Relevancy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297680" y="5065776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Antwort weicht vom Thema ab.</a:t>
            </a:r>
            <a:endParaRPr lang="en-US" sz="12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5230368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869680" y="5065776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229600" y="4480560"/>
            <a:ext cx="5943600" cy="3108960"/>
          </a:xfrm>
          <a:prstGeom prst="roundRect">
            <a:avLst>
              <a:gd name="adj" fmla="val 11765"/>
            </a:avLst>
          </a:prstGeom>
          <a:solidFill>
            <a:srgbClr val="2EC4B6">
              <a:alpha val="34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822960" y="1051560"/>
            <a:ext cx="1188720" cy="118872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" y="1360627"/>
            <a:ext cx="570586" cy="570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IHR · HANDS-ON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240280" y="14173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04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Evaluation: den Fortschritt messbar machen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36118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0332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5661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fünf Ausbaustufen gegen 15 Gold-Fragen benchmarken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822960" y="42702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61688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422452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Hit@3 und MRR pro Stufe vergleichen (mit Balkendiagramm)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822960" y="492861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020056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488289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Sehen, warum erst der Metadaten-Filter Frage 13 löst</a:t>
            </a:r>
            <a:endParaRPr lang="en-US" sz="1550" dirty="0"/>
          </a:p>
        </p:txBody>
      </p:sp>
      <p:sp>
        <p:nvSpPr>
          <p:cNvPr id="17" name="Shape 11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35507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8138160" y="4297680"/>
            <a:ext cx="5943600" cy="3108960"/>
          </a:xfrm>
          <a:prstGeom prst="roundRect">
            <a:avLst>
              <a:gd name="adj" fmla="val 11765"/>
            </a:avLst>
          </a:prstGeom>
          <a:solidFill>
            <a:srgbClr val="1C7293">
              <a:alpha val="42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 rot="1200000">
            <a:off x="8961120" y="4663440"/>
            <a:ext cx="5943600" cy="2011680"/>
          </a:xfrm>
          <a:prstGeom prst="roundRect">
            <a:avLst>
              <a:gd name="adj" fmla="val 18182"/>
            </a:avLst>
          </a:prstGeom>
          <a:solidFill>
            <a:srgbClr val="2EC4B6">
              <a:alpha val="36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51460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Über RAG hinaus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4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 RAG nicht das richtige Werkzeug </a:t>
            </a:r>
            <a:r>
              <a:rPr lang="en-US" sz="1600" i="1" dirty="0" err="1">
                <a:solidFill>
                  <a:srgbClr val="C4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</a:t>
            </a:r>
            <a:r>
              <a:rPr lang="en-US" sz="1600" i="1" dirty="0">
                <a:solidFill>
                  <a:srgbClr val="C4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was dann kommt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4370832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234440" y="427024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Wissensproblem vs. Verhaltensproblem: RAG oder Fine-Tuning?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68680" y="4791456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1234440" y="4690872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und QLoRA: Fine-Tuning für alle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68680" y="5212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1234440" y="5111496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Grenzen von statischem RAG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5632704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1234440" y="55321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ReAct-Paradigma und Agentic RAG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0195560" y="2194560"/>
            <a:ext cx="1371600" cy="1371600"/>
          </a:xfrm>
          <a:prstGeom prst="ellipse">
            <a:avLst/>
          </a:prstGeom>
          <a:solidFill>
            <a:srgbClr val="16305A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2176" y="2551176"/>
            <a:ext cx="658368" cy="65836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RICHTIGE FRAGE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oder Fine-Tuning?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„RAG oder Fine-Tuning?" ist falsch gestellt. Die richtige Frage lautet: Was ist eigentlich das Problem?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257800" cy="3200400"/>
          </a:xfrm>
          <a:prstGeom prst="roundRect">
            <a:avLst>
              <a:gd name="adj" fmla="val 2571"/>
            </a:avLst>
          </a:prstGeom>
          <a:solidFill>
            <a:srgbClr val="E9F1F5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960120" y="25146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" y="270479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5603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Wissensproblem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338328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Modell weiß </a:t>
            </a:r>
            <a:r>
              <a:rPr lang="en-US" sz="1350" dirty="0" err="1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etwas</a:t>
            </a:r>
            <a:r>
              <a:rPr lang="en-US" sz="13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nicht </a:t>
            </a:r>
            <a:r>
              <a:rPr lang="en-US" sz="13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</a:t>
            </a:r>
            <a:r>
              <a:rPr lang="en-US" sz="1350" dirty="0" err="1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</a:t>
            </a:r>
            <a:r>
              <a:rPr lang="en-US" sz="13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neu, zu spezifisch, nie im Training gesehen.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60120" y="411480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960120" y="41148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Lösung: RAG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" y="46634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Gibt dem Modell Information von außen.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63640" y="2194560"/>
            <a:ext cx="5257800" cy="3200400"/>
          </a:xfrm>
          <a:prstGeom prst="roundRect">
            <a:avLst>
              <a:gd name="adj" fmla="val 2571"/>
            </a:avLst>
          </a:prstGeom>
          <a:solidFill>
            <a:srgbClr val="ECE9FB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1"/>
          <p:cNvSpPr/>
          <p:nvPr/>
        </p:nvSpPr>
        <p:spPr>
          <a:xfrm>
            <a:off x="6583680" y="2514600"/>
            <a:ext cx="731520" cy="73152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875" y="2704795"/>
            <a:ext cx="351130" cy="35113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52360" y="25603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Verhaltensproblem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583680" y="338328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Modell weiß es prinzipiell, antwortet aber nicht auf die benötigte Art.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583680" y="41148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5"/>
          <p:cNvSpPr/>
          <p:nvPr/>
        </p:nvSpPr>
        <p:spPr>
          <a:xfrm>
            <a:off x="6583680" y="41148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Lösung: Fine-Tuning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583680" y="46634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 JSON · Unternehmensstil · Klausel-Extraktion · kleines Modell spezialisieren.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40080" y="5532120"/>
            <a:ext cx="10881360" cy="640080"/>
          </a:xfrm>
          <a:prstGeom prst="roundRect">
            <a:avLst>
              <a:gd name="adj" fmla="val 12857"/>
            </a:avLst>
          </a:prstGeom>
          <a:solidFill>
            <a:srgbClr val="0B2545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18"/>
          <p:cNvSpPr/>
          <p:nvPr/>
        </p:nvSpPr>
        <p:spPr>
          <a:xfrm>
            <a:off x="960120" y="55321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Entweder-Oder:  </a:t>
            </a:r>
            <a:r>
              <a:rPr lang="en-US" sz="14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gibt Information, Fine-Tuning verändert das Modell. In der Praxis werden beide oft kombiniert.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EFFIZIENTES FINE-TUNING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 &amp; QLoRA: Fine-Tuning für alle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960120" y="2194560"/>
            <a:ext cx="640080" cy="64008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1" y="23609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2402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 · Low-Rank Adaptation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60120" y="297180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 alle Gewichte zu trainieren: Die Änderung ΔW wird als Produkt zweier kleiner Matrizen dargestellt (ΔW = B·A). Die Originalgewichte bleiben eingefroren.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4069080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ECE9F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960120" y="40690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wenige Prozent trainierbar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257800" cy="2697480"/>
          </a:xfrm>
          <a:prstGeom prst="roundRect">
            <a:avLst>
              <a:gd name="adj" fmla="val 3051"/>
            </a:avLst>
          </a:prstGeom>
          <a:solidFill>
            <a:srgbClr val="0B2545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9"/>
          <p:cNvSpPr/>
          <p:nvPr/>
        </p:nvSpPr>
        <p:spPr>
          <a:xfrm>
            <a:off x="6583680" y="219456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101" y="236098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06640" y="22402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QLoRA · noch effizienter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583680" y="29718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Kombiniert 4-Bit-Quantisierung des Basismodells mit LoRA-Adaptern in voller Präzision.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583680" y="3749040"/>
            <a:ext cx="4617720" cy="777240"/>
          </a:xfrm>
          <a:prstGeom prst="roundRect">
            <a:avLst>
              <a:gd name="adj" fmla="val 10588"/>
            </a:avLst>
          </a:prstGeom>
          <a:solidFill>
            <a:srgbClr val="1B3A66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3"/>
          <p:cNvSpPr/>
          <p:nvPr/>
        </p:nvSpPr>
        <p:spPr>
          <a:xfrm>
            <a:off x="6766560" y="374904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Llama-2-70B: </a:t>
            </a:r>
            <a:r>
              <a:rPr lang="en-US" sz="1250" dirty="0">
                <a:solidFill>
                  <a:srgbClr val="C4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 ~140 GB VRAM reicht eine einzige 80-GB-GPU. Nur 0,04 % der Parameter trainierbar.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40080" y="4800600"/>
            <a:ext cx="10881360" cy="1188720"/>
          </a:xfrm>
          <a:prstGeom prst="roundRect">
            <a:avLst>
              <a:gd name="adj" fmla="val 6923"/>
            </a:avLst>
          </a:prstGeom>
          <a:solidFill>
            <a:srgbClr val="E7F3EC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5"/>
          <p:cNvSpPr/>
          <p:nvPr/>
        </p:nvSpPr>
        <p:spPr>
          <a:xfrm>
            <a:off x="1005840" y="5074920"/>
            <a:ext cx="640080" cy="640080"/>
          </a:xfrm>
          <a:prstGeom prst="ellipse">
            <a:avLst/>
          </a:prstGeom>
          <a:solidFill>
            <a:srgbClr val="3AA76D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2261" y="5241341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737360" y="5074920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AA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Fine-Tuning kombinieren:  </a:t>
            </a:r>
            <a:r>
              <a:rPr lang="en-US" sz="1400" dirty="0">
                <a:solidFill>
                  <a:srgbClr val="2E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juristischer Assistent nutzt Fine-Tuning für Stil und Terminologie, RAG für aktuelle Urteile. Oft besonders wirkungsvoll: das Embedding-Modell selbst auf Domänen-Paare fine-tunen.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EIN SCHRITT NICHT REICHT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Grenzen von statischem RAG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3291840"/>
          </a:xfrm>
          <a:prstGeom prst="roundRect">
            <a:avLst>
              <a:gd name="adj" fmla="val 2500"/>
            </a:avLst>
          </a:prstGeom>
          <a:solidFill>
            <a:srgbClr val="FBEDE2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960120" y="2148840"/>
            <a:ext cx="640080" cy="640080"/>
          </a:xfrm>
          <a:prstGeom prst="ellipse">
            <a:avLst/>
          </a:prstGeom>
          <a:solidFill>
            <a:srgbClr val="E07A3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1" y="23152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94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ist einschrittig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9260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Einmal retrieven, einmal generieren, fertig. Das reicht nicht für: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60120" y="3474720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„Analysiere die Quartalsberichte der letzten drei Jahre, vergleiche sie mit unseren drei größten Wettbewerbern und fasse die strategischen Divergenzen zusammen."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828800"/>
            <a:ext cx="5257800" cy="3291840"/>
          </a:xfrm>
          <a:prstGeom prst="roundRect">
            <a:avLst>
              <a:gd name="adj" fmla="val 2500"/>
            </a:avLst>
          </a:prstGeom>
          <a:solidFill>
            <a:srgbClr val="0B2545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RAG nicht kann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83680" y="260604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Reasoning über mehrere Quellen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Dynamische Planung des nächsten Schritts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Iteratives Nachsuchen mit neuen Begriffen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Aufgaben mit eigener Abbruchbedingung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63640" y="5257800"/>
            <a:ext cx="5257800" cy="594360"/>
          </a:xfrm>
          <a:prstGeom prst="roundRect">
            <a:avLst>
              <a:gd name="adj" fmla="val 13846"/>
            </a:avLst>
          </a:prstGeom>
          <a:solidFill>
            <a:srgbClr val="2EC4B6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6263640" y="5257800"/>
            <a:ext cx="5257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Genau hier setzt Agentic AI an.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080" y="5349240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Workflow statt eines einzelnen Schritts: retrieven, nachdenken, planen, integrieren, synthetisieren.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AUSBLICK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ReAct-Paradigma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+ Acting (Yao et al., ICLR 2023): Nachdenken und Handeln wechseln sich ab, bis die Antwort steht.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3832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1965960" y="24688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155" y="265907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46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Thought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363931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Modell denkt laut, plant den nächsten Schritt, prüft ob es fertig ist.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3063240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343400" y="2194560"/>
            <a:ext cx="33832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8"/>
          <p:cNvSpPr/>
          <p:nvPr/>
        </p:nvSpPr>
        <p:spPr>
          <a:xfrm>
            <a:off x="5669280" y="2468880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9475" y="2659075"/>
            <a:ext cx="351130" cy="3511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343400" y="3246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572000" y="363931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Ruft ein </a:t>
            </a:r>
            <a:r>
              <a:rPr lang="en-US" sz="1150" dirty="0" err="1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</a:t>
            </a: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auf z. B. search("Siemens Q3 2024").</a:t>
            </a:r>
            <a:endParaRPr lang="en-US" sz="11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3063240"/>
            <a:ext cx="256032" cy="25603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046720" y="2194560"/>
            <a:ext cx="33832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2"/>
          <p:cNvSpPr/>
          <p:nvPr/>
        </p:nvSpPr>
        <p:spPr>
          <a:xfrm>
            <a:off x="9372600" y="2468880"/>
            <a:ext cx="731520" cy="73152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2795" y="2659075"/>
            <a:ext cx="351130" cy="35113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046720" y="3246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8275320" y="363931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Ergebnis fließt in den nächsten Thought ein.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640080" y="43434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Die Schleife wiederholt sich bis zur finalen Antwort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640080" y="4800600"/>
            <a:ext cx="5257800" cy="1188720"/>
          </a:xfrm>
          <a:prstGeom prst="roundRect">
            <a:avLst>
              <a:gd name="adj" fmla="val 6923"/>
            </a:avLst>
          </a:prstGeom>
          <a:solidFill>
            <a:srgbClr val="0B2545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Text 17"/>
          <p:cNvSpPr/>
          <p:nvPr/>
        </p:nvSpPr>
        <p:spPr>
          <a:xfrm>
            <a:off x="960120" y="4983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RAG (Stand 2026)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960120" y="5303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Agent entscheidet dynamisch: Brauche ich Retrieval? Muss ich die Frage zerlegen? Reichen die Dokumente? Nochmal suchen?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263640" y="4800600"/>
            <a:ext cx="5257800" cy="1188720"/>
          </a:xfrm>
          <a:prstGeom prst="roundRect">
            <a:avLst>
              <a:gd name="adj" fmla="val 6923"/>
            </a:avLst>
          </a:prstGeom>
          <a:solidFill>
            <a:srgbClr val="FBEDE2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7" name="Text 20"/>
          <p:cNvSpPr/>
          <p:nvPr/>
        </p:nvSpPr>
        <p:spPr>
          <a:xfrm>
            <a:off x="6583680" y="4983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Neue Risiken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6583680" y="5303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Halluzinierte Werkzeugaufrufe · Endlosschleifen · Prompt Injection · Kosten &amp; Latenz. Produktive Systeme brauchen Maximalschritte und Timeouts.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Chancen, Risiken, Enterprise-Tauglichkeit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66160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960120" y="2148840"/>
            <a:ext cx="731520" cy="731520"/>
          </a:xfrm>
          <a:prstGeom prst="ellipse">
            <a:avLst/>
          </a:prstGeom>
          <a:solidFill>
            <a:srgbClr val="3AA76D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" y="233903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94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Chancen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310896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Schnellster ROI: interne Wissenssuche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Support-Entlastung &amp; Onboarding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Belegbare Antworten mit Quellen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98848" y="1874520"/>
            <a:ext cx="3566160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4818888" y="2148840"/>
            <a:ext cx="731520" cy="731520"/>
          </a:xfrm>
          <a:prstGeom prst="ellipse">
            <a:avLst/>
          </a:prstGeom>
          <a:solidFill>
            <a:srgbClr val="E07A3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9083" y="233903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87568" y="2194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Risiken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18888" y="310896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Treue Antwort aus falscher Quelle (Air Canada)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Veraltetes Wissen ohne Governance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Blindes Vertrauen in flüssige Sprache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357616" y="1874520"/>
            <a:ext cx="3566160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1"/>
          <p:cNvSpPr/>
          <p:nvPr/>
        </p:nvSpPr>
        <p:spPr>
          <a:xfrm>
            <a:off x="8677656" y="21488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7851" y="233903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546336" y="2194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Enterprise-Reife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677656" y="310896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Skalierbare Vektor-DB (pgvector)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Zugriffsrechte &amp; Metadaten-Pflege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+ CI-Regressionstests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200000">
            <a:off x="-1463040" y="4937760"/>
            <a:ext cx="5943600" cy="2926080"/>
          </a:xfrm>
          <a:prstGeom prst="roundRect">
            <a:avLst>
              <a:gd name="adj" fmla="val 12500"/>
            </a:avLst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 rot="-1200000">
            <a:off x="-914400" y="5394960"/>
            <a:ext cx="5943600" cy="1828800"/>
          </a:xfrm>
          <a:prstGeom prst="roundRect">
            <a:avLst>
              <a:gd name="adj" fmla="val 20000"/>
            </a:avLst>
          </a:prstGeom>
          <a:solidFill>
            <a:srgbClr val="2EC4B6">
              <a:alpha val="34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MITNEHMEN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2801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Relevanz ist nicht Gültigkeit.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868680" y="260604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72491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56032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Naives RAG </a:t>
            </a:r>
            <a:r>
              <a:rPr lang="en-US" sz="1550" dirty="0" err="1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scheitert</a:t>
            </a:r>
            <a:r>
              <a:rPr lang="en-US" sz="15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dirty="0" err="1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vorhersehbar</a:t>
            </a:r>
            <a:r>
              <a:rPr lang="en-US" sz="15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Hybrid Search + Reranking heben die Retrieval-Qualität deutlich.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68680" y="3319272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3438144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327355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 keine Retrieval-Stufe ersetzt gepflegte Metadaten und eine ehrliche Evaluation.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868680" y="4032504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151376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986784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messen, dann optimieren: ohne Gold-Testset ist jede Architekturdiskussion Geschmackssache.</a:t>
            </a:r>
            <a:endParaRPr lang="en-US" sz="1550" dirty="0"/>
          </a:p>
        </p:txBody>
      </p:sp>
      <p:sp>
        <p:nvSpPr>
          <p:cNvPr id="15" name="Shape 10"/>
          <p:cNvSpPr/>
          <p:nvPr/>
        </p:nvSpPr>
        <p:spPr>
          <a:xfrm>
            <a:off x="822960" y="5120640"/>
            <a:ext cx="10515600" cy="0"/>
          </a:xfrm>
          <a:prstGeom prst="line">
            <a:avLst/>
          </a:prstGeom>
          <a:noFill/>
          <a:ln w="12700">
            <a:solidFill>
              <a:srgbClr val="35507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1"/>
          <p:cNvSpPr/>
          <p:nvPr/>
        </p:nvSpPr>
        <p:spPr>
          <a:xfrm>
            <a:off x="822960" y="5303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Vielen Dank | Fragen?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822960" y="5989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Jannik Braunshausen · Theodor Höfer · Darnell Himmighöfer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772400" y="5989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WDSKI23A · DHBW Mannheim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4420</Words>
  <Application>Microsoft Office PowerPoint</Application>
  <PresentationFormat>Breitbild</PresentationFormat>
  <Paragraphs>571</Paragraphs>
  <Slides>38</Slides>
  <Notes>38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38</vt:i4>
      </vt:variant>
    </vt:vector>
  </HeadingPairs>
  <TitlesOfParts>
    <vt:vector size="43" baseType="lpstr">
      <vt:lpstr>Arial</vt:lpstr>
      <vt:lpstr>Calibri</vt:lpstr>
      <vt:lpstr>Cambria</vt:lpstr>
      <vt:lpstr>Courier New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Jannik Braunshausen</cp:lastModifiedBy>
  <cp:revision>2</cp:revision>
  <dcterms:created xsi:type="dcterms:W3CDTF">2026-07-18T15:50:18Z</dcterms:created>
  <dcterms:modified xsi:type="dcterms:W3CDTF">2026-07-22T13:44:35Z</dcterms:modified>
</cp:coreProperties>
</file>