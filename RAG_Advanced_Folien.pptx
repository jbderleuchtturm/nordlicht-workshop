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Story-Hook: 850 Mitarbeitende, das Wissen steht in Dokumenten — aber niemand findet es. WICHTIG: jetzt die Setup-Zelle von NB 01 starten lassen, damit die Modell-Downloads während des Theorieteils laufen.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in drei Teilen. Teil 1 legt die Grundlagen, damit alle dem Hands-on folgen können. Betonen: Mitmach-Format, kostenlos, Teamarbeit.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sechs Lernziele decken sich mit VL 3. Kurz durchgehen — das ist der Kompass für die nächsten zwei Stunden.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in den Grundlagenteil. Ziel: Alle im Raum haben dasselbe mentale Modell, bevor es ans Selbstbauen geht.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Wurzeln des Wissensproblems (VL 3). Kernbotschaft: RAG behebt ein WISSENS-Problem, kein Verhaltensproblem — die Abgrenzung zu Fine-Tuning kommt in Teil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emotionale Anker. Am Ende (NB 03) bauen wir denselben Fehlertyp nach: eine treue Antwort aus einer falschen Quelle.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Phasen sauber trennen. Offline berechnen wir einmal alle Vektoren (Bi-Encoder!), online läuft nur Suche + Generierung. Der Merksatz unten trägt den gesamten Rest des Workshops.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 für alles Weitere. Analogie: Bedeutung wird zu Koordinaten im Raum. Kosinus = Winkel, nicht Länge. Die 0,92 ist das SBERT-Beispiel aus VL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SBERT (Reimers &amp; Gurevych 2019), siamesische Architektur. Kernpunkt: getrennt encodieren = vorberechenbar. Das ist der Gegensatz zum Cross-Encoder in Teil 2, der beides gemeinsam liest.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Grund, warum man keine Excel-Tabelle nimmt. Brute-Force O(n) vs. HNSW O(log n). Für unsere 36 Chunks reicht numpy — aber ab Millionen Chunks braucht man genau 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Marktüberblick aus VL 3. Wichtig für die Q&amp;A: Warum numpy statt pgvector? Weil die Konzepte identisch sind und 36 Chunks keinen ANN-Index brauchen. pgvector wäre der Produktionsschritt.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Strategien aus VL 3. Unser NB nutzt bewusst Absatz-Chunking (simpel, nachvollziehbar). Diskussionsanker: Was wäre bei 50-seitigen Verträgen anders? → Hierarchical.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Bausteine in fester Reihenfolge. Der DSGVO-Punkt ist ein starkes Praxis-Argument für RAG gegenüber Fine-Tuning. Überleitung: So weit die Theorie — jetzt bauen wir die naive Variante.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simpel. Für viele Fragen funktioniert das erstaunlich gut — wichtig, damit der Kontrast später wirkt. Generierung deterministisch (Satz-Extraktion), damit kostenlos &amp; reproduzierbar.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Mismatch ist der Fachbegriff (VL 3). Beide Fälle probieren die Teilnehmenden in NB 01 selbst. Auf Score-Nähe der Top-3 hinweisen.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in den Mitmach-Teil (NB 01). Bearbeitungszeit ansagen, dann Lösung live tippen. Floorwalker aktiv.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 des Workshops. Hier lösen wir die Probleme aus Teil 1 und lernen zu messen, ob es wirklich besser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Duell im Notebook zeigt beide Asymmetrien live. Überleitung zum Fusionsproblem — löst RRF (nächste Folien).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die Formel auswendig — die Intuition zählt: häufig im Dok (TF), selten im Korpus (IDF), längenkorrigiert. Das erklärt, warum BM25 und Dense sich so gut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Brücke zu VL 3 explizit — dasselbe Zahlenbeispiel. Intuition: was in BEIDEN Listen oben steht, gewinnt. k=60 dämpft die Dominanz der Spitzenränge.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NB 02. Das Duell zeigt die Asymmetrie, RRF vereint beides. Bearbeitungszeit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Gegensatz zum Bi-Encoder von Folie 9: hier lesen Frage und Dokument GEMEINSAM. Deshalb präzise, aber teuer. Führt zum zweistufigen Muster.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Recall/Precision-Gedanke greift der Evaluation vor. Zahlen (Top-50/Top-5) sind illustrativ; im NB nutzen wir Top-8/Top-3 für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NB 03. Erst Übung 3, dann kommt der Höhepunkt (die Falle) im Plenum, danach Übung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HERZSTÜCK. Antwort laut vorlesen, Kunstpause, dann Quelle zeigen. 3 Min Team-Diskussion 'Warum?' BEVOR die Auflösung. Merksatz: Alle drei Stufen taten exakt, wofür sie gebaut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 ist Data Governance, nicht der Code. Alternativen zum harten Filter: Aktualität als Score-Boost, Zeitbezug aus der Frage erkennen, oder dem LLM beide Fassungen mit Datum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WICHTIG: echte Zahlen aus benchmark_ergebnis.png hier einsetzen. Auf Frage 13 zeigen: 'Hybrid + Rerank' scheitert an der Falle, erst 'Advanced' löst 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konzeptionelle Anker hinter dem zweistufigen Muster UND den Metriken. Recall = nichts verpassen, Precision = kein Ballast. Beide Stufen adressieren je eine Seite.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Metriken, zwei Achsen: Retrieval (Recall/Precision) und Generierung (Faithfulness/Answer Relevancy). Unsere zwei decken die Retrieval-Seite kostenlos 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Direkt aus VL 3. Diese Tabelle ist Gold für die Q&amp;A. Und: unsere Falle zeigt eine Lücke, die KEINE dieser Metriken allein fängt — Frage 13 hätte perfekte Retrieval-Scores gehabt.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 04 ist eine Demo (keine Übung). P2 führt sie am Beamer. ~1 Min Rechenzeit. Danach die echten Zahlen auf Folie 27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Ausblick, der den Workshop einordnet und die volle Breite von VL 3 abdeckt. Zeigt, dass ihr das große Bild versteht.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Kernunterscheidung aus VL 3. Orthogonale Dimensionen. Beispiel für Kombination: juristischer Assistent — Fine-Tuning für Stil, RAG für aktuelle Urteile.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(Hu 2021), QLoRA (Dettmers 2023). Nicht die Mathematik, die Idee: nur ein kleiner Teil wird trainiert. QLoRA hat Fine-Tuning demokratisiert. Embedding-Fine-Tuning als Extra-Tipp.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Brückenschlag zu Agents. Statisches RAG = ein Schuss. Komplexe Aufgaben brauchen einen mehrschrittigen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ReAct-Loop mit dem Siemens/ABB-Beispiel erklärbar. Agentic RAG = Stand der Technik. Risiken sind das Gegenstück zu unserer Reflexion. Frameworks: LangGraph, LlamaIndex, AutoGen, CrewAI,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Kick-off-Leitfragen zusammenführen. Provokant die Hebel-Frage stellen und die Q&amp;A eröffnen. Air Canada als Anker zurückholen.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Nachschlage-Folie / Leave-behind. Muss man nicht vortragen — als Referenz im geteilten Material sehr wertvoll für die Vorbereitung der Zuhörer.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 wiederholen, dann offene Q&amp;A. Vorbereitete Antworten im Moderationsleitfaden (warum kein echtes LLM, warum k=60, warum numpy statt pgvector, hätte ein besseres Modell die Falle verhindert).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955280" y="-146304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8778240" y="-109728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SÄULE 2 — LLMs, RAG &amp; AGENTS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Advanced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naive Retrieval-Pipelines scheitern — und wie Hybrid Search, Reranking und Evaluation sie retten.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15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445861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343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NordLicht Logistik GmbH — internes Wissen für Kundenservice &amp; Personal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55778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715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Jannik Braunshausen · Theodor Höfer · Darnell Himmighöfer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5715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WDSKI23A · DHBW Mannheim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euch heute erwartet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013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1 · RAG-Grundlagen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2037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Vektor-DBs, Chunking, der Prompt — und warum naives RAG scheitert.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24612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3424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729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2 · Advanced RAG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28800" y="35753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RRF, Reranking, die Metadaten-Falle und Evaluation.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7315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17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47960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44568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Teil 3 · Über RAG hinaus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49469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vs. RAG, LoRA/QLoRA und ein Ausblick auf Agents.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83880" y="1600200"/>
            <a:ext cx="3337560" cy="3977640"/>
          </a:xfrm>
          <a:prstGeom prst="roundRect">
            <a:avLst>
              <a:gd name="adj" fmla="val 246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50392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503920" y="2331720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679" y="246247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22951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Mitmach-Workshop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09828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Notebooks in Colab — kein Frontalvortrag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03920" y="3136392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679" y="326715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2 Stunden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09828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· Hands-on · Reflexion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503920" y="3941064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679" y="4071823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2er-Teams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9098280" y="4215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eigenen Rechner, mit Betreuung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503920" y="4745736"/>
            <a:ext cx="502920" cy="502920"/>
          </a:xfrm>
          <a:prstGeom prst="ellipse">
            <a:avLst/>
          </a:prstGeom>
          <a:solidFill>
            <a:srgbClr val="1B3A66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679" y="4876495"/>
            <a:ext cx="241402" cy="24140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09828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 kostenlos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9098280" y="5020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7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Open-Source-Modelle, keine API-Keys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DES WORKSHOPS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ihr danach könnt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RAG-Pipeline erklären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Chunking über Embeddings und Vektorsuche bis zur Antwortgenerierung.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659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1204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Verstehen, warum naives RAG scheitert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Mismatch, fehlende exakte Begriffe, veraltete Quellen.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894" y="21204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947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Advanced-RAG einordnen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95360" y="26243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 Reciprocal Rank Fusion und Cross-Encoder-Reranking gezielt einsetzen.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0233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41778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Retrieval-Qualität messen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Hit@3, MRR und der RAGAS-Logik eine Pipeline objektiv bewerten.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8056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0233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414" y="417789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von Fine-Tuning abgrenzen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5488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Wissensproblem vs. Verhaltensproblem — und wann welcher Hebel greift.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321040" y="37490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95360" y="4023360"/>
            <a:ext cx="594360" cy="5943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894" y="417789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005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einordnen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595360" y="468172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ein einzelner Retrieval-Schritt nicht reicht und ReAct ins Spiel kommt.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RAG-Grundlagen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Retrieval-Pipeline von Grund auf funktioniert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Wissensproblem der LLMs und die Idee von RAG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Bi-Encoder und Vektordatenbanken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Chunking-Strategien und der erweiterte Prompt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die naive Pipeline an ihre Grenzen stößt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ÜBERHAUPT RAG?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haben ein Wissensproblem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Statisches Wissen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kennt nur seinen Trainingsstand. Interne Dokumente und aktuelle Fakten fehlen.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8848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41848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Quellen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18888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 sind plausibel formuliert, aber nicht belegt — Halluzinationen sind strukturell angelegt.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57616" y="1874520"/>
            <a:ext cx="356616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77656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964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00616" y="22402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Zugriff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77656" y="306324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Firmenwissen liegt in Systemen, auf die das LLM von sich aus keinen Zugriff hat.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89204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48" y="50703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8920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 zur Laufzeit: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Dokumente suchen und dem LLM als Kontext mitgeben. Es antwortet aus dem, was es gerade liest — statt aus dem Gedächtnis. Das ist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WARNGESCHICHTE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der Bot Unsinn erzählt, haftet das Unternehmen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331720"/>
            <a:ext cx="914400" cy="914400"/>
          </a:xfrm>
          <a:prstGeom prst="ellipse">
            <a:avLst/>
          </a:prstGeom>
          <a:solidFill>
            <a:srgbClr val="1B3A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56946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228600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6032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Fall Air Canada (2024)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560320" y="31089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Support-Chatbot erfindet eine Rückerstattungs-Regel, die es nie gab.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Kunde verlässt sich darauf und klagt.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Gericht entscheidet: Die Airline haftet für die Aussage ihres Bots.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46720" y="228600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3A1F14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66760" y="2560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Lektion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306324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flüssige, falsche Antwort ist teurer als gar keine.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Vertrauen, Recht und Reputation hängen an der Faktentreue.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diese Art Fehler werden wir heute an unserer eigenen Pipeline reproduzieren — und beheben.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ARCHITEKTUR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in zwei Phasen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OFFLINE (einmalig)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840126"/>
            <a:ext cx="263347" cy="2633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269748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91640" y="2679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91640" y="2990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in Häppchen teilen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" y="3800246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9164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91640" y="3950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Chunk wird zum Vektor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60120" y="4617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4760366"/>
            <a:ext cx="263347" cy="26334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0120" y="4617720"/>
            <a:ext cx="548640" cy="5486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691640" y="4599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Indexieren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91640" y="4910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Vektoren in die Vektor-Datenbank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18745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2148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3A66"/>
          </a:solidFill>
          <a:ln/>
        </p:spPr>
      </p:sp>
      <p:sp>
        <p:nvSpPr>
          <p:cNvPr id="24" name="Text 19"/>
          <p:cNvSpPr/>
          <p:nvPr/>
        </p:nvSpPr>
        <p:spPr>
          <a:xfrm>
            <a:off x="6583680" y="2148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ZUR LAUFZEIT (pro Frage)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26974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840126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0" y="2679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315200" y="29900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Chunks zur Frage suchen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583680" y="36576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26" y="380024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Augmentierung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315200" y="3950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 den Prompt einbetten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583680" y="461772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4760366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15200" y="4599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7315200" y="4910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antwortet aus dem Kontext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Schlüsselsatz für heute: Die Generierung kann nur so gut sein wie das Retrieval.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GRUNDBAUSTEIN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ein Embedding?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Wort zur Zahl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neuronales Netz rechnet mit Vektoren — ein Wort wie „Hamburg" ist keine Zahl. Ein Embedding bildet Text auf einen dichten Vektor ab (typisch 128–4096 Dimensionen).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zentrale Eigenschaft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Ähnliche Bedeutung → ähnliche Vektoren. „Paket" und „Sendung" landen nah beieinander, „Paket" und „Urlaub" weit auseinander. Das macht Bedeutung rechenbar.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Nähe messen: Kosinus-Ähnlichkeit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Winkel zwischen zwei Vektoren — nicht ihre Länge — misst, wie ähnlich zwei Texte sind: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154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cos(v</a:t>
            </a:r>
            <a:pPr indent="0" marL="0">
              <a:buNone/>
            </a:pPr>
            <a:r>
              <a:rPr lang="en-US" sz="13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v</a:t>
            </a:r>
            <a:pPr indent="0" marL="0">
              <a:buNone/>
            </a:pPr>
            <a:r>
              <a:rPr lang="en-US" sz="13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∈ [−1, 1]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3977640"/>
            <a:ext cx="4297680" cy="0"/>
          </a:xfrm>
          <a:prstGeom prst="line">
            <a:avLst/>
          </a:prstGeom>
          <a:noFill/>
          <a:ln w="25400">
            <a:solidFill>
              <a:srgbClr val="355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11696" y="392277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identisch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74736" y="3922776"/>
            <a:ext cx="109728" cy="109728"/>
          </a:xfrm>
          <a:prstGeom prst="ellipse">
            <a:avLst/>
          </a:prstGeom>
          <a:solidFill>
            <a:srgbClr val="9FB2C9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952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verwandt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37776" y="3922776"/>
            <a:ext cx="109728" cy="109728"/>
          </a:xfrm>
          <a:prstGeom prst="ellipse">
            <a:avLst/>
          </a:prstGeom>
          <a:solidFill>
            <a:srgbClr val="9FB2C9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0" y="489204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1B3A66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48920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„Passwort zurücksetzen?" ↔ „Passwort vergessen?"  →  cos ≈ 0,92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RETRIEVAL-WERKZEUG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Bi-Encoder (SBERT)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Encoder teilen sich die Gewichte und verarbeiten Frage und Dokument unabhängig voneinander — dadurch lassen sich alle Dokument-Vektoren einmal vorberechnen.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88720" y="251460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„Passwort zurücksetzen?"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4069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486" y="4211726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97480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v_q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863840" y="251460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FAQ-Eintrag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01000" y="30175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„Passwort vergessen?"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66760" y="3474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23960" y="40690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06" y="421172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372600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B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v_d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206240"/>
            <a:ext cx="320040" cy="32004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360920" y="4206240"/>
            <a:ext cx="320040" cy="320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92040" y="3749040"/>
            <a:ext cx="2423160" cy="123444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892040" y="3886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 ≈ 0,92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892040" y="43891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Ähnlichkeit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" y="547999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349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zählt: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Dokument-Vektoren werden einmal offline berechnet. Zur Laufzeit muss nur die Frage encodiert und der Abstand verglichen werden — aus Stunden werden Sekunden.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eine Vektordatenbank?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FBEDE2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E07A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Naiv: Brute-Force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jeder Frage den Abstand zu allen Vektoren rechnen. Bei 1 Mio. Vektoren × 768 Dim. sind das 750 Mio. Operationen — pro Query.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O(n)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257800" cy="2514600"/>
          </a:xfrm>
          <a:prstGeom prst="roundRect">
            <a:avLst>
              <a:gd name="adj" fmla="val 3273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3152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Lösung: ANN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9260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Neighbor: nicht exakt den nächsten, sondern schnell einen sehr guten Nachbarn finden. In der Praxis vernachlässigbarer Qualitätsverlust.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0" y="3886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3886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 O(log n)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6012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HNSW · Hierarchical Navigable Small World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766560" y="4773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(Malkov &amp; Yashunin, 2018)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60120" y="5102352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mehrschichtiger Graph: Die Suche startet oben mit großen Sprüngen, navigiert zur richtigen Region und findet auf der untersten Ebene das genaue Ergebnis.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7325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3" name="Shape 19"/>
          <p:cNvSpPr/>
          <p:nvPr/>
        </p:nvSpPr>
        <p:spPr>
          <a:xfrm>
            <a:off x="91897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4" name="Shape 20"/>
          <p:cNvSpPr/>
          <p:nvPr/>
        </p:nvSpPr>
        <p:spPr>
          <a:xfrm>
            <a:off x="96469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5" name="Shape 21"/>
          <p:cNvSpPr/>
          <p:nvPr/>
        </p:nvSpPr>
        <p:spPr>
          <a:xfrm>
            <a:off x="101041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6" name="Shape 22"/>
          <p:cNvSpPr/>
          <p:nvPr/>
        </p:nvSpPr>
        <p:spPr>
          <a:xfrm>
            <a:off x="105613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7" name="Shape 23"/>
          <p:cNvSpPr/>
          <p:nvPr/>
        </p:nvSpPr>
        <p:spPr>
          <a:xfrm>
            <a:off x="11018520" y="507492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8" name="Shape 24"/>
          <p:cNvSpPr/>
          <p:nvPr/>
        </p:nvSpPr>
        <p:spPr>
          <a:xfrm>
            <a:off x="8732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29" name="Shape 25"/>
          <p:cNvSpPr/>
          <p:nvPr/>
        </p:nvSpPr>
        <p:spPr>
          <a:xfrm>
            <a:off x="9494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30" name="Shape 26"/>
          <p:cNvSpPr/>
          <p:nvPr/>
        </p:nvSpPr>
        <p:spPr>
          <a:xfrm>
            <a:off x="10256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31" name="Shape 27"/>
          <p:cNvSpPr/>
          <p:nvPr/>
        </p:nvSpPr>
        <p:spPr>
          <a:xfrm>
            <a:off x="11018520" y="5349240"/>
            <a:ext cx="91440" cy="91440"/>
          </a:xfrm>
          <a:prstGeom prst="ellipse">
            <a:avLst/>
          </a:prstGeom>
          <a:solidFill>
            <a:srgbClr val="5A7BA6"/>
          </a:solidFill>
          <a:ln/>
        </p:spPr>
      </p:sp>
      <p:sp>
        <p:nvSpPr>
          <p:cNvPr id="32" name="Shape 28"/>
          <p:cNvSpPr/>
          <p:nvPr/>
        </p:nvSpPr>
        <p:spPr>
          <a:xfrm>
            <a:off x="8732520" y="562356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Shape 29"/>
          <p:cNvSpPr/>
          <p:nvPr/>
        </p:nvSpPr>
        <p:spPr>
          <a:xfrm>
            <a:off x="11018520" y="5623560"/>
            <a:ext cx="91440" cy="914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0"/>
          <p:cNvSpPr/>
          <p:nvPr/>
        </p:nvSpPr>
        <p:spPr>
          <a:xfrm>
            <a:off x="8732520" y="59161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2 → 0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WERKZEUG-LANDSCHAFT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Vektordatenbank?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EAF6FA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3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37260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3726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PostgreSQL-Extension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Vektorsuche direkt in Postgres, kein neuer Stack. Ideal für kleinere Projekte.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unser Stack-Vorbild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02152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9412" y="21488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607" y="233903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02152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799332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3799332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· Rust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730752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schnell, speichereffizient, Hybrid Search nativ. Gut für Production.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64224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01484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79" y="233903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661404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6661404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592824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Einfachster Einstieg, In-Process-Python. Für Notebooks und Prototypen.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226296" y="18745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163556" y="21488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751" y="233903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26296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523476" y="340156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9523476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454896" y="3840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multimodal eingebaut, GraphQL-API für komplexe Schemata.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40080" y="521208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60120" y="52120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Faustregel:  </a:t>
            </a:r>
            <a:pPr indent="0" marL="0"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wenn es einfach bleiben soll — Qdrant, wenn Hybrid Search und Performance gefragt sind. Im Workshop nutzen wir bewusst nur numpy: 36 Chunks brauchen keinen Index.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AUFBEREITEN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Chunking-Strategien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Embedding-Modelle verarbeiten begrenzte Textlängen, und kleinere Einheiten lassen sich präziser wiederfinden. Wie man teilt, entscheidet über die Retrieval-Qualität.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robuste Default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Tokenzahl je Chunk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gegen Kontextverlust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256–512 Token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50–100 Token (10–20 %)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6353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8640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Thematisch kohärent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5488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 zwischen Nachbarsätzen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Teilen bei Ähnlichkeitsabfall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Kohärente Einheiten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Langsamer, variable Größen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321040" y="21945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95360" y="246888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26353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326880" y="2816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595360" y="32918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Child-Chunks fürs Retrieval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Parent-Chunks für den LLM-Kontext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Karteikarte suchen, Kapitel lesen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komplexe Dokumente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5257800"/>
            <a:ext cx="10881360" cy="594360"/>
          </a:xfrm>
          <a:prstGeom prst="roundRect">
            <a:avLst>
              <a:gd name="adj" fmla="val 1384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60120" y="52578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Praxis:  </a:t>
            </a:r>
            <a:pPr indent="0" marL="0">
              <a:buNone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als Baseline. Semantic oder Hierarchical, wenn die RAGAS-Scores niedrig sind. Chunk-Größen immer empirisch testen. — Im Workshop: 1 Absatz = 1 Chunk.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HERZSTÜCK DER GENERIERUNG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erweiterte Prompt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System-Instruktion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„Beantworte die Frage ausschließlich anhand des Kontexts. Steht die Antwort nicht drin, sage es ehrlich."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27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Kontext-Chunks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 ähnlichsten Dokumentabschnitte — nummeriert und mit Quellenangabe.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165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16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Nutzeranfrage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ursprüngliche Frage, unverändert angehängt.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178308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18120" y="20574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0766" y="220004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58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Effekt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18120" y="26974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LLM wird gezwungen, auf echten Quellen zu basieren. Halluzinationen sind nicht ausgeschlossen, aber die Fehlerquote sinkt erheblich.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98080" y="374904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818120" y="4023360"/>
            <a:ext cx="548640" cy="54864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766" y="4166006"/>
            <a:ext cx="263347" cy="26334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5820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A7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DSGVO-Vorteil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818120" y="46634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Nicht-parametrisches Wissen ist löschbar: Dokument aus dem Index entfernen — fertig. Kein Modell-Retraining nötig.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40080" y="57607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diesen Prompt zeigt Notebook 01 — die „Generierung" simulieren wir dann deterministisch, damit alles kostenlos bleibt.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naive Pipeline — unser Startpunkt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Absatz = 1 Chunk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06324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47288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93108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078" y="259141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84448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84448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MiniLM, mehrsprachig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06324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54496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00316" y="23774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286" y="259141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91656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Vektorsuche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391656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Kosinus, Top-k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306324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61704" y="205740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07524" y="237744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1494" y="2591410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198864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Antwort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9198864" y="36758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besten Chunk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541" y="5149901"/>
            <a:ext cx="307238" cy="30723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737360" y="49834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1: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Kosinus-Ähnlichkeit und die Top-k-Suche selbst implementieren. Eine ✅-Selbsttest-Zelle prüft euch automatisch.</a:t>
            </a:r>
            <a:endParaRPr lang="en-US" sz="145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blinde Flecken der Vektorsuche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BEDE2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E07A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920240" y="25786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„SLA für P1-Tickets?"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33832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Wiki schreibt „Service Level Agreement" und „Priority-1-Vorfälle" — aber nie die Kürzel. Bei internen Codes und Versionsnummern bleibt die Bedeutungssuche unzuverlässig.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E9F1F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23847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andere Extrem: BM25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89520" y="25786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„Kosten für Cloud-Speicher"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 Keyword-Suche findet keine Seite, die nur von „Preisen für Objektspeicherung" spricht. Sie kennt exakte Wörter, aber keine Bedeutung.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516636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60120" y="5166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Diagnose:  </a:t>
            </a:r>
            <a:pPr indent="0" marL="0"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Verfahren allein reicht nicht. Wir brauchen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UND exakte Begriffe</a:t>
            </a:r>
            <a:pPr indent="0" marL="0"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das führt uns zu Hybrid Search.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RAG bauen &amp; an die Grenze bringen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 und die Vektorsuche zum Laufen bringen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1: Kosinus-Ähnlichkeit + Top-k selbst implementieren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zwei blinden Flecken am eigenen Rechner erleben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✅-Selbsttest-Zellen sagen euch, wann eine Übung sitzt. Floorwalker helfen — einfach melden.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RAG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brauchbaren Treffern zu präzisen, überprüfbaren Antworten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BM25 und Vektorsuche vereint (RRF)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Cross-Encoder-Reranking und das zweistufige Muster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Metadaten-Falle: Relevanz ist nicht Gültigkeit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mit Hit@3, MRR und der RAGAS-Logik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· 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Search: zwei Sucher, zwei Stärken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· Keyword-Suche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exakte Wortformen (seit den 90ern Standard).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Codes, Produktnamen, Fachbegriffen.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für Synonyme und Umschreibungen.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· Vektorsuche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83680" y="306324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Vergleicht Bedeutung über Embeddings.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bei Synonymen und Umgangssprache.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bei exakten, semantisch armen Begriffen.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51206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5287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1206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parallel laufen lassen und die Ergebnislisten fair verschmelzen. Aber die Scores sind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vergleichbar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(BM25: 0…&gt;10, Kosinus: −1…1). Wie fusioniert man das?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verstehen: drei Zutaten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(„Best Matching 25") ist der Standard klassischer Suchmaschinen. Ein Dokument ist relevant, wenn es die Suchbegriffe passend enthält — drei Faktoren zusammen: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Frequency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steht der Begriff im Dokument? Öfter = relevanter — aber mit abnehmendem Grenznutzen.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26353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Document Frequency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5488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selten ist der Begriff im ganzen Korpus? Seltene Wörter tragen mehr Information als „und" oder „die".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219456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246888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26353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200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Längen-Normalisierung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95360" y="37947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Dokumente enthalten Begriffe naturgemäß öfter. BM25 rechnet das heraus, um kurze nicht zu benachteiligen.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960120" y="49377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es die Vektorsuche ergänzt: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matcht exakte Zeichenketten. Genau deshalb trifft es Fehlercodes wie „NL-410" sicher — dort, wo Embeddings scheitern. Es versteht nur keine Synonyme. Die perfekte Ergänzung zur Bedeutungssuche.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· KERNKONZEPT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 (RRF)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2148840"/>
          </a:xfrm>
          <a:prstGeom prst="roundRect">
            <a:avLst>
              <a:gd name="adj" fmla="val 383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Ränge zählen — keine rohen Scores.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RRF(d) = </a:t>
            </a:r>
            <a:pPr indent="0" marL="0">
              <a:buNone/>
            </a:pPr>
            <a:r>
              <a:rPr lang="en-US" sz="260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</a:t>
            </a:r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(k + rang</a:t>
            </a:r>
            <a:pPr indent="0" marL="0">
              <a:buNone/>
            </a:pPr>
            <a:r>
              <a:rPr lang="en-US" sz="1500" i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robuster Default aus dem Original-Paper (Cormack et al., SIGIR 2009).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874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 (aus VL 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331720"/>
            <a:ext cx="91440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331720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331720"/>
            <a:ext cx="10972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331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2331720"/>
            <a:ext cx="10972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3317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2331720"/>
            <a:ext cx="137160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23317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0" y="2331720"/>
            <a:ext cx="640080" cy="566928"/>
          </a:xfrm>
          <a:prstGeom prst="rect">
            <a:avLst/>
          </a:prstGeom>
          <a:solidFill>
            <a:srgbClr val="13315C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3317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2898648"/>
            <a:ext cx="9144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898648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2898648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8986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2898648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8986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2898648"/>
            <a:ext cx="13716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8986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0,0321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424160" y="2898648"/>
            <a:ext cx="6400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28986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3465576"/>
            <a:ext cx="91440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465576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0" y="3465576"/>
            <a:ext cx="10972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465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55280" y="3465576"/>
            <a:ext cx="10972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4655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52560" y="3465576"/>
            <a:ext cx="137160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346557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0,0326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3465576"/>
            <a:ext cx="640080" cy="566928"/>
          </a:xfrm>
          <a:prstGeom prst="rect">
            <a:avLst/>
          </a:prstGeom>
          <a:solidFill>
            <a:srgbClr val="E4F6F3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0" y="34655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0" y="4032504"/>
            <a:ext cx="9144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032504"/>
            <a:ext cx="9144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0" y="4032504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40325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955280" y="4032504"/>
            <a:ext cx="10972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403250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052560" y="4032504"/>
            <a:ext cx="137160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0" y="403250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0,0319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424160" y="4032504"/>
            <a:ext cx="640080" cy="566928"/>
          </a:xfrm>
          <a:prstGeom prst="rect">
            <a:avLst/>
          </a:prstGeom>
          <a:solidFill>
            <a:srgbClr val="F4F8FB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24160" y="403250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943600" y="48920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gewinnt: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2 und Rang 1. Konsistenz über beide Listen wird belohnt — nicht der eine Spitzenplatz.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40080" y="4297680"/>
            <a:ext cx="5029200" cy="1691640"/>
          </a:xfrm>
          <a:prstGeom prst="roundRect">
            <a:avLst>
              <a:gd name="adj" fmla="val 486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60120" y="452628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2: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implementieren. Der Selbsttest ist genau dieses Beispiel — B muss gewinnen (1/62 + 1/61).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 &amp; RRF selbst bauen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gegen die Vektorsuche antreten lassen (das Duell)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2: Reciprocal Rank Fusion implementieren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blinden Flecken aus NB 01 verschwinden — ohne neue Nachteile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✅-Selbsttest-Zellen sagen euch, wann eine Übung sitzt. Floorwalker helfen — einfach melden.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KONZEPT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Reranking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Bi-Encoder  (Retrieval)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 und Dokument getrennt encodiert. Vektoren sind vorberechenbar.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 · Millionen Chunks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34290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0E4D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Ungenauer im Ranking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 Dokument „sehen" einander nie.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0312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 (Reranking)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[Frage] [SEP] [Dokument] gemeinsam und gibt einen direkten Relevanz-Score.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3429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B3A6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429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präzise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58200" y="3429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3A2A18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3429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Teuer · nur für Top-N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Aufmerksamkeit über das Frage-Dokument-Paar.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5149901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37360" y="49834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Übung 3: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Reranking implementieren — den Cross-Encoder alle Kandidaten-Paare bewerten lassen und die Top-N zurückgeben.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ZUSAMMENSPIEL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zweistufige Muster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Trick: erst breit sammeln (billig), dann präzise sortieren (teuer, aber nur für wenige Kandidaten).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5943600" cy="868680"/>
          </a:xfrm>
          <a:prstGeom prst="roundRect">
            <a:avLst>
              <a:gd name="adj" fmla="val 6316"/>
            </a:avLst>
          </a:prstGeom>
          <a:solidFill>
            <a:srgbClr val="D4DEE8"/>
          </a:solidFill>
          <a:ln/>
          <a:effectLst>
            <a:outerShdw sx="100000" sy="100000" kx="0" ky="0" algn="bl" rotWithShape="0" blurRad="635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2374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Chunks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gesamte Korpus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758184" y="3291840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83080" y="36118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83080" y="37581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Hybrid Search → Top-50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783080" y="40965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bloß nichts Relevantes verpassen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58184" y="4526280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651760" y="484632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2EC4B6"/>
          </a:solidFill>
          <a:ln/>
          <a:effectLst>
            <a:outerShdw sx="100000" sy="100000" kx="0" ky="0" algn="bl" rotWithShape="0" blurRad="635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651760" y="49926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Cross-Encoder → Top-5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651760" y="5330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das Beste nach ganz oben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498080" y="2377440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46" y="27944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697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Recall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72400" y="3246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Billige Verfahren holen viele Kandidaten. Lieber ein paar zu viel als das Richtige verpassen.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98080" y="4114800"/>
            <a:ext cx="40233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0" y="438912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046" y="45317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Precision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72400" y="4983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teure Cross-Encoder bewertet nur die 50 Kandidaten und hebt die besten 5 ins LLM.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 bauen — und dem System eine Falle stellen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3: Cross-Encoder-Reranking implementieren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voll ausgebaute Pipeline an einer Alltagsfrage testen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4: den Fehler beheben — sobald wir ihn verstanden haben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✅-Selbsttest-Zellen sagen euch, wann eine Übung sitzt. Floorwalker helfen — einfach melden.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AHA-MOMENT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Relevanz ist nicht Gültigkeit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960120"/>
          </a:xfrm>
          <a:prstGeom prst="roundRect">
            <a:avLst>
              <a:gd name="adj" fmla="val 8571"/>
            </a:avLst>
          </a:prstGeom>
          <a:solidFill>
            <a:srgbClr val="1B3A66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E07A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3253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„Wie viele Tage Homeoffice sind erlaubt?"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029200" cy="2697480"/>
          </a:xfrm>
          <a:prstGeom prst="roundRect">
            <a:avLst>
              <a:gd name="adj" fmla="val 3051"/>
            </a:avLst>
          </a:prstGeom>
          <a:solidFill>
            <a:srgbClr val="3A1F14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Pipeline antwortet: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„maximal zwei Tage"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120" y="4297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</a:t>
            </a:r>
            <a:pPr indent="0" marL="0">
              <a:buNone/>
            </a:pP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Homeoffice-Regelung (2022) · Status: archiviert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8006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0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Flüssig. Mit Quellenangabe. Völlig überzeugend — und falsch. Gültig sind seit 2025 drei Tage.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3504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passiert das?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035040" y="251460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51460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0" y="2514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liebt 2022 — dort steht wörtlich &amp; oft „Homeoffice". 2025 spricht von „mobilem Arbeiten".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35040" y="35204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352044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0" y="3520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2022 ebenfalls hochrelevant — es geht semantisch exakt um die Frage.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35040" y="45262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13315C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4526280"/>
            <a:ext cx="16002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0" y="45262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bewertet literale Relevanz. Der 2022-Text passt perfekt — dass er nicht mehr gilt, steht nicht drin.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035040" y="5532120"/>
            <a:ext cx="5486400" cy="6858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26480" y="553212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taten exakt, wofür sie gebaut sind. Retrieval-Qualität ≠ korrekte Antwort.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· ÜBUNG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Fix: Metadaten ernst nehmen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Filter vor dem Reranking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kandidaten = [c for c in kandidaten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B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c["status"] != "archiviert"]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Chunks trugen status und jahr die ganze Zeit mit sich.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2194560"/>
          </a:xfrm>
          <a:prstGeom prst="roundRect">
            <a:avLst>
              <a:gd name="adj" fmla="val 3750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antwortet die Pipeline: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„drei Tage"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</a:t>
            </a:r>
            <a:pPr indent="0" marL="0">
              <a:buNone/>
            </a:pPr>
            <a:r>
              <a:rPr lang="en-US" sz="125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Richtlinie Mobiles Arbeiten (2025) · gültig 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F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Selbsttest bestätigt: archivierte Chunks sind raus, die gültige Quelle gewinnt.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709160"/>
            <a:ext cx="777240" cy="77724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922" y="4911242"/>
            <a:ext cx="373075" cy="3730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11680" y="452628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Code war eine Zeile — die Lektion ist es nicht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11680" y="493776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Gültigkeit, Aktualität, Zuständigkeit stehen in Metadaten, nicht im Text — und keine Retrieval-Stufe sieht sie von allein.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echte Engpass in Unternehmen: Wer pflegt den Status? Was tun bei widersprüchlichen, nicht archivierten Dokumenten?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Beweisen statt behaupten: die Evaluation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749040" cy="39776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Metriken auf 15 Gold-Fragen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30230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62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31638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ein relevantes Dokument in den Top-3?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028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8679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4169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weit oben steht der erste Treffer?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1440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1 → 1,0 · Rang 2 → 0,5 · Rang 3 → 0,33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26280" y="1874520"/>
            <a:ext cx="69951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Retrieval-Qualität je Ausbaustufe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9281160" y="212140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BEDE2"/>
          </a:solidFill>
          <a:ln/>
        </p:spPr>
      </p:sp>
      <p:sp>
        <p:nvSpPr>
          <p:cNvPr id="18" name="Text 14"/>
          <p:cNvSpPr/>
          <p:nvPr/>
        </p:nvSpPr>
        <p:spPr>
          <a:xfrm>
            <a:off x="9281160" y="212140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ECHTE ZAHLEN EINSETZEN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92040" y="3840480"/>
            <a:ext cx="1051560" cy="14173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99632" y="4000500"/>
            <a:ext cx="1051560" cy="1257300"/>
          </a:xfrm>
          <a:prstGeom prst="roundRect">
            <a:avLst>
              <a:gd name="adj" fmla="val 3478"/>
            </a:avLst>
          </a:prstGeom>
          <a:solidFill>
            <a:srgbClr val="9FB2C9"/>
          </a:solidFill>
          <a:ln/>
        </p:spPr>
      </p:sp>
      <p:sp>
        <p:nvSpPr>
          <p:cNvPr id="22" name="Text 18"/>
          <p:cNvSpPr/>
          <p:nvPr/>
        </p:nvSpPr>
        <p:spPr>
          <a:xfrm>
            <a:off x="6108192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507224" y="3429000"/>
            <a:ext cx="1051560" cy="182880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24" name="Text 20"/>
          <p:cNvSpPr/>
          <p:nvPr/>
        </p:nvSpPr>
        <p:spPr>
          <a:xfrm>
            <a:off x="7415784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814816" y="3268980"/>
            <a:ext cx="1051560" cy="19888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8723376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122408" y="2971800"/>
            <a:ext cx="1051560" cy="2286000"/>
          </a:xfrm>
          <a:prstGeom prst="roundRect">
            <a:avLst>
              <a:gd name="adj" fmla="val 3478"/>
            </a:avLst>
          </a:prstGeom>
          <a:solidFill>
            <a:srgbClr val="2EC4B6"/>
          </a:solidFill>
          <a:ln/>
        </p:spPr>
      </p:sp>
      <p:sp>
        <p:nvSpPr>
          <p:cNvPr id="28" name="Text 24"/>
          <p:cNvSpPr/>
          <p:nvPr/>
        </p:nvSpPr>
        <p:spPr>
          <a:xfrm>
            <a:off x="10030968" y="5303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754880" y="5257800"/>
            <a:ext cx="630936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46320" y="58064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(Platzhalter). Erwartetes Muster: jede Stufe legt zu, erst der Metadaten-Filter fixt Frage 13.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ZENTRALE KOMPROMISS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vs. Recall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E9F1F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allem Relevanten — wie viel habe ich gefunden? Hohes k, viele Kandidaten: nichts wird übersehen, aber es kommt auch Ballast mit.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3017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dem, was ich gefunden habe — wie viel ist wirklich relevant? Reranking und kleines k halten den Kontext sauber, riskieren aber, Gutes wegzulassen.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89204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35" y="50822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7091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löst unsere Pipeline den Kompromiss auf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011680" y="51206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(Hybrid Search) maximiert Recall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viele Kandidaten, nichts verpassen.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(Reranking) maximiert Precision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nur das Beste geht ans LLM. Genau das messen Hit@3 (Recall-nah) und MRR (Precision-nah).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INDUSTRIESTANDARD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RAGAS: vier Metriken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Metriken bewerten nur das Retrieval. RAGAS misst zusätzlich die Generierung — braucht dafür aber ein LLM als Judge (= API-Kosten).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4140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die nötige Information überhaupt im abgerufenen Kontext?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456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unser Hit@3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4505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3EE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24140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28529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das Relevante oben — ohne viel Irrelevantes dazwischen?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4564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unser MRR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279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46817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 sich die Antwort an den Kontext, ohne zu erfinden?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285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LLM-Judge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279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4F6F3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46520" y="4681728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Beantwortet die Antwort tatsächlich die gestellte Frage?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528523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LLM-Judge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IN DER PRAXIS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Diagnose-Logik: wo klemmt es?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eigentliche Wert von RAGAS: Die Kombination der Werte sagt nicht nur, DASS etwas falsch ist, sondern WO — und was zu tun 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408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408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Faithfulness, ↑ Context Precision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23225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LLM ignoriert den Kontext oder überschreibt ihn mit eigenem Wissen.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48716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0" y="23225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schärfen, Modell wechseln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552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2552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Context Recall, ↑ Faithfulness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97680" y="32369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Retriever findet nicht alles — nutzt aber gut, was er findet.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3401568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69680" y="32369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überdenken, Hybrid Search, k erhöhen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1696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1696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Context Precision, ↑ Context Recall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297680" y="41513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Retriever findet viel — aber auch viel Irrelevantes.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31596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0" y="41513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einsetzen, k reduzieren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93776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50840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5084064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Answer Relevancy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297680" y="50657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Antwort weicht vom Thema ab.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5230368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0" y="506577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229600" y="448056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2EC4B6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1188720" cy="11887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13606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IHR · HANDS-ON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40280" y="14173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den Fortschritt messbar machen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661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fünf Ausbaustufen gegen 15 Gold-Fragen benchmarken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4270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616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245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 und MRR pro Stufe vergleichen (mit Balkendiagramm)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2005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8828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Sehen, warum erst der Metadaten-Filter Frage 13 löst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✅-Selbsttest-Zellen sagen euch, wann eine Übung sitzt. Floorwalker helfen — einfach melden.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4297680"/>
            <a:ext cx="5943600" cy="3108960"/>
          </a:xfrm>
          <a:prstGeom prst="roundRect">
            <a:avLst>
              <a:gd name="adj" fmla="val 11765"/>
            </a:avLst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8961120" y="4663440"/>
            <a:ext cx="5943600" cy="2011680"/>
          </a:xfrm>
          <a:prstGeom prst="roundRect">
            <a:avLst>
              <a:gd name="adj" fmla="val 18182"/>
            </a:avLst>
          </a:prstGeom>
          <a:solidFill>
            <a:srgbClr val="2EC4B6">
              <a:alpha val="3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 RAG hinaus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RAG nicht das richtige Werkzeug ist — und was dann kommt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3708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427024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Wissensproblem vs. Verhaltensproblem: RAG oder Fine-Tuning?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791456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69087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und QLoRA: Fine-Tuning für alle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111496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Grenzen von statischem RAG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68680" y="5632704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532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ReAct-Paradigma und Agentic RAG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195560" y="2194560"/>
            <a:ext cx="1371600" cy="13716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2551176"/>
            <a:ext cx="658368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RICHTIGE FRAGE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oder Fine-Tuning?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„RAG oder Fine-Tuning?" ist falsch gestellt. Die richtige Frage lautet: Was ist eigentlich das Problem?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9F1F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Wissensproblem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weiß etwas nicht — zu neu, zu spezifisch, nie im Training gesehen.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41148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Lösung: RAG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663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dem Modell Information von außen.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19456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CE9FB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514600"/>
            <a:ext cx="731520" cy="7315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5" y="2704795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560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Verhaltensproblem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583680" y="33832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weiß es prinzipiell, antwortet aber nicht auf die benötigte Art.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4114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4114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Lösung: Fine-Tuning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4663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JSON · Unternehmensstil · Klausel-Extraktion · kleines Modell spezialisieren.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60120" y="55321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Entweder-Oder:  </a:t>
            </a:r>
            <a:pPr indent="0" marL="0">
              <a:buNone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gibt Information, Fine-Tuning verändert das Modell. In der Praxis werden beide oft kombiniert.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EFFIZIENTES FINE-TUNING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&amp; QLoRA: Fine-Tuning für alle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· Low-Rank Adaptation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alle Gewichte zu trainieren: Die Änderung ΔW wird als Produkt zweier kleiner Matrizen dargestellt (ΔW = B·A). Die Originalgewichte bleiben eingefroren.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0690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069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wenige Prozent trainierbar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36098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2240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· noch effizienter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Kombiniert 4-Bit-Quantisierung des Basismodells mit LoRA-Adaptern in voller Präzision.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0" y="3749040"/>
            <a:ext cx="4617720" cy="777240"/>
          </a:xfrm>
          <a:prstGeom prst="roundRect">
            <a:avLst>
              <a:gd name="adj" fmla="val 10588"/>
            </a:avLst>
          </a:prstGeom>
          <a:solidFill>
            <a:srgbClr val="1B3A66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66560" y="37490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4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~140 GB VRAM reicht eine einzige 80-GB-GPU. Nur 0,04 % der Parameter trainierbar.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05840" y="5074920"/>
            <a:ext cx="640080" cy="64008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52413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50749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AA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Fine-Tuning kombinieren: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juristischer Assistent nutzt Fine-Tuning für Stil und Terminologie, RAG für aktuelle Urteile. Oft besonders wirkungsvoll: das Embedding-Modell selbst auf Domänen-Paare fine-tunen.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EIN SCHRITT NICHT REICHT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Grenzen von statischem RAG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BEDE2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E07A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ist einschrittig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retrieven, einmal generieren, fertig. Das reicht nicht für: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„Analysiere die Quartalsberichte der letzten drei Jahre, vergleiche sie mit unseren drei größten Wettbewerbern und fasse die strategischen Divergenzen zusammen."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RAG nicht kann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260604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über mehrere Quellen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Planung des nächsten Schritts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Iteratives Nachsuchen mit neuen Begriffen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mit eigener Abbruchbedingung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5257800"/>
            <a:ext cx="5257800" cy="594360"/>
          </a:xfrm>
          <a:prstGeom prst="roundRect">
            <a:avLst>
              <a:gd name="adj" fmla="val 13846"/>
            </a:avLst>
          </a:prstGeom>
          <a:solidFill>
            <a:srgbClr val="2EC4B6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525780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Genau hier setzt Agentic AI an.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534924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Workflow statt eines einzelnen Schritts: retrieven, nachdenken, planen, integrieren, synthetisieren.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ReAct-Paradigma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Acting (Yao et al., ICLR 2023): Nachdenken und Handeln wechseln sich ab, bis die Antwort steht.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155" y="26590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denkt laut, plant den nächsten Schritt, prüft ob es fertig ist.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30632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4340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0" y="24688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75" y="26590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Ruft ein Werkzeug auf — z. B. search("Siemens Q3 2024").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06324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046720" y="2194560"/>
            <a:ext cx="338328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372600" y="2468880"/>
            <a:ext cx="731520" cy="7315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795" y="265907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672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275320" y="3639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Ergebnis fließt in den nächsten Thought ein.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Die Schleife wiederholt sich bis zur finalen Antwort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0080" y="480060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96012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E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(Stand 2026)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60120" y="5303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entscheidet dynamisch: Brauche ich Retrieval? Muss ich die Frage zerlegen? Reichen die Dokumente? Nochmal suchen?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63640" y="4800600"/>
            <a:ext cx="5257800" cy="1188720"/>
          </a:xfrm>
          <a:prstGeom prst="roundRect">
            <a:avLst>
              <a:gd name="adj" fmla="val 6923"/>
            </a:avLst>
          </a:prstGeom>
          <a:solidFill>
            <a:srgbClr val="FBEDE2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658368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 Risiken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583680" y="5303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Halluzinierte Werkzeugaufrufe · Endlosschleifen · Prompt Injection · Kosten &amp; Latenz. Produktive Systeme brauchen Maximalschritte und Timeouts.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Chancen, Risiken, Enterprise-Tauglichkeit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3AA7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Chancen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Schnellster ROI: interne Wissenssuche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Support-Entlastung &amp; Onboarding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Belegbare Antworten mit Quellen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98848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2148840"/>
            <a:ext cx="731520" cy="731520"/>
          </a:xfrm>
          <a:prstGeom prst="ellipse">
            <a:avLst/>
          </a:prstGeom>
          <a:solidFill>
            <a:srgbClr val="E07A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083" y="2339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8756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Risiken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Treue Antwort aus falscher Quelle (Air Canada)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Veraltetes Wissen ohne Governance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Blindes Vertrauen in flüssige Sprache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57616" y="187452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B254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77656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851" y="23390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46336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Enterprise-Reife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77656" y="31089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Skalierbare Vektor-DB (pgvector)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Zugriffsrechte &amp; Metadaten-Pflege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CI-Regressionstests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Hebel auf die Antwortqualität? Nach heute lautet die belegbare Antwort: Evaluation + Datenqualität — nicht das schickste Modell.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NACHSCHLAGEN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Glossar: die wichtigsten Begriffe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als dichter Vektor; ähnliche Bedeutung → ähnliche Vektoren.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9222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205740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Encodiert Frage &amp; Doku getrennt → vorberechenbar, schnell.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2374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Frage &amp; Doku gemeinsam → präzise, aber teuer.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246888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52374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in Häppchen teilen (Fixed / Semantic / Hierarchical).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5526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Keyword-Suche über TF, IDF und Längen-Normalisierung.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5526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352044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Vektorsuche kombiniert — Bedeutung UND exakte Begriffe.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8678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25196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Fusioniert Ranglisten nur über Rangpositionen (k = 60).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72200" y="39319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98678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55080" y="425196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Zweite, präzisere Sortierung der Top-Kandidaten.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71830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/ ANN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Näherungssuche in Vektor-DBs, O(log n).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172200" y="46634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71830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 / MRR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55080" y="498348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Retrieval-Metriken: Treffer in Top-3 / Rang des ersten Treffers.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44982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571500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Eval-Framework: Faithfulness, Answer Relevancy, Context Prec./Recall.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172200" y="53949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8FB"/>
          </a:solidFill>
          <a:ln w="9525">
            <a:solidFill>
              <a:srgbClr val="E1E9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44982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55080" y="5715000"/>
            <a:ext cx="4983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Agent-Schleife aus Thought → Action → Observation.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1463040" y="4937760"/>
            <a:ext cx="5943600" cy="2926080"/>
          </a:xfrm>
          <a:prstGeom prst="roundRect">
            <a:avLst>
              <a:gd name="adj" fmla="val 12500"/>
            </a:avLst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200000">
            <a:off x="-914400" y="5394960"/>
            <a:ext cx="5943600" cy="1828800"/>
          </a:xfrm>
          <a:prstGeom prst="roundRect">
            <a:avLst>
              <a:gd name="adj" fmla="val 20000"/>
            </a:avLst>
          </a:prstGeom>
          <a:solidFill>
            <a:srgbClr val="2EC4B6">
              <a:alpha val="3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MITNEHMEN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Relevanz ist nicht Gültigkeit.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7249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560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Naives RAG scheitert vorhersehbar — Hybrid Search + Reranking heben die Retrieval-Qualität deutlich.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43814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2735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keine Retrieval-Stufe ersetzt gepflegte Metadaten und eine ehrliche Evaluation.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68680" y="403250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5137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98678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messen, dann optimieren: ohne Gold-Testset ist jede Architekturdiskussion Geschmackssache.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35507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2960" y="5303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— Fragen?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822960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Jannik Braunshausen · Theodor Höfer · Darnell Himmighöfer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0" y="5989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WDSKI23A · DHBW Mannheim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2026-07-18T15:50:18Z</dcterms:created>
  <dcterms:modified xsi:type="dcterms:W3CDTF">2026-07-18T15:50:18Z</dcterms:modified>
</cp:coreProperties>
</file>